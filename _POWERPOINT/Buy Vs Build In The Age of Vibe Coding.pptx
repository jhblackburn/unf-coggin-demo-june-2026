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2"/>
  </p:notesMasterIdLst>
  <p:sldIdLst>
    <p:sldId id="256" r:id="rId2"/>
    <p:sldId id="257" r:id="rId3"/>
    <p:sldId id="258" r:id="rId4"/>
    <p:sldId id="259" r:id="rId5"/>
    <p:sldId id="285" r:id="rId6"/>
    <p:sldId id="314" r:id="rId7"/>
    <p:sldId id="316" r:id="rId8"/>
    <p:sldId id="317" r:id="rId9"/>
    <p:sldId id="286" r:id="rId10"/>
    <p:sldId id="323" r:id="rId11"/>
    <p:sldId id="321" r:id="rId12"/>
    <p:sldId id="322" r:id="rId13"/>
    <p:sldId id="287" r:id="rId14"/>
    <p:sldId id="288" r:id="rId15"/>
    <p:sldId id="289" r:id="rId16"/>
    <p:sldId id="290" r:id="rId17"/>
    <p:sldId id="297" r:id="rId18"/>
    <p:sldId id="298" r:id="rId19"/>
    <p:sldId id="302" r:id="rId20"/>
    <p:sldId id="296" r:id="rId21"/>
    <p:sldId id="309" r:id="rId22"/>
    <p:sldId id="307" r:id="rId23"/>
    <p:sldId id="313" r:id="rId24"/>
    <p:sldId id="311" r:id="rId25"/>
    <p:sldId id="312" r:id="rId26"/>
    <p:sldId id="308" r:id="rId27"/>
    <p:sldId id="324" r:id="rId28"/>
    <p:sldId id="325" r:id="rId29"/>
    <p:sldId id="328" r:id="rId30"/>
    <p:sldId id="327" r:id="rId31"/>
    <p:sldId id="331" r:id="rId32"/>
    <p:sldId id="332" r:id="rId33"/>
    <p:sldId id="333" r:id="rId34"/>
    <p:sldId id="329" r:id="rId35"/>
    <p:sldId id="330" r:id="rId36"/>
    <p:sldId id="334" r:id="rId37"/>
    <p:sldId id="306" r:id="rId38"/>
    <p:sldId id="336" r:id="rId39"/>
    <p:sldId id="335" r:id="rId40"/>
    <p:sldId id="282" r:id="rId41"/>
  </p:sldIdLst>
  <p:sldSz cx="9144000" cy="5143500" type="screen16x9"/>
  <p:notesSz cx="6858000" cy="9144000"/>
  <p:embeddedFontLst>
    <p:embeddedFont>
      <p:font typeface="Merriweather" panose="00000500000000000000" pitchFamily="2" charset="0"/>
      <p:regular r:id="rId43"/>
      <p:bold r:id="rId44"/>
      <p:italic r:id="rId45"/>
      <p:boldItalic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60E"/>
    <a:srgbClr val="FB02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96" autoAdjust="0"/>
    <p:restoredTop sz="95196" autoAdjust="0"/>
  </p:normalViewPr>
  <p:slideViewPr>
    <p:cSldViewPr snapToGrid="0">
      <p:cViewPr varScale="1">
        <p:scale>
          <a:sx n="142" d="100"/>
          <a:sy n="142" d="100"/>
        </p:scale>
        <p:origin x="17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96d2ad4918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96d2ad4918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96d2ad4918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96d2ad4918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96d2ad4918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96d2ad4918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14CA780-1F05-A1DF-4C43-AC9BB7107B50}"/>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7DF3EF8C-7899-104B-4E8B-5091C59090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8B6C711E-19FD-D3C5-BF96-EE734AADC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Chase looks like a traditional bank, but it increasingly operates like a massive financial technology platform with a banking charter. The customer experience is driven by mobile banking, online account opening, payments, fraud detection, personalization, AI, data infrastructure, and continuous app delivery. Chase’s own technology page describes technology and data as central to how the firm transforms businesses and serves customers.</a:t>
            </a:r>
            <a:endParaRPr dirty="0"/>
          </a:p>
        </p:txBody>
      </p:sp>
    </p:spTree>
    <p:extLst>
      <p:ext uri="{BB962C8B-B14F-4D97-AF65-F5344CB8AC3E}">
        <p14:creationId xmlns:p14="http://schemas.microsoft.com/office/powerpoint/2010/main" val="2731510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69DFD80-6D4D-36A7-80AE-5F8FF447024C}"/>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6F4DF256-8A4F-4AA2-2251-977A06EE33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C22A784A-1CEE-E4C5-750E-5D2E5CD13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real-time ordering, routing, loyalty, and ETA prediction company that happens to sell pizza. Domino’s now talks openly about </a:t>
            </a:r>
            <a:r>
              <a:rPr lang="en-US" dirty="0" err="1"/>
              <a:t>DomOS</a:t>
            </a:r>
            <a:r>
              <a:rPr lang="en-US" dirty="0"/>
              <a:t>, its proprietary operating system, and AI-powered order tracking.</a:t>
            </a:r>
            <a:endParaRPr dirty="0"/>
          </a:p>
        </p:txBody>
      </p:sp>
    </p:spTree>
    <p:extLst>
      <p:ext uri="{BB962C8B-B14F-4D97-AF65-F5344CB8AC3E}">
        <p14:creationId xmlns:p14="http://schemas.microsoft.com/office/powerpoint/2010/main" val="2577640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CDE3238-DBFF-142C-D76E-F18C84AED892}"/>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15D21F50-0EFB-2B09-DDE3-6819C2AC47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75F49BF5-9ECA-D5B1-C31B-A388D6FD1E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precision-agriculture data platform with tractors. Deere’s Operations Center is an online farm management system accessible by web, tablet, or phone, and it connects with outside software companies.</a:t>
            </a:r>
            <a:endParaRPr dirty="0"/>
          </a:p>
        </p:txBody>
      </p:sp>
    </p:spTree>
    <p:extLst>
      <p:ext uri="{BB962C8B-B14F-4D97-AF65-F5344CB8AC3E}">
        <p14:creationId xmlns:p14="http://schemas.microsoft.com/office/powerpoint/2010/main" val="2654287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599EBA3-1908-BB5B-0E59-378DF5D969E1}"/>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1080491B-1929-410A-8076-19BAEB0E0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281B3308-4F73-28FC-EC59-4D8994175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 operations-research and route-optimization company with brown trucks. UPS built ORION to use data and predictive models to improve routing efficiency.</a:t>
            </a:r>
            <a:endParaRPr dirty="0"/>
          </a:p>
        </p:txBody>
      </p:sp>
    </p:spTree>
    <p:extLst>
      <p:ext uri="{BB962C8B-B14F-4D97-AF65-F5344CB8AC3E}">
        <p14:creationId xmlns:p14="http://schemas.microsoft.com/office/powerpoint/2010/main" val="71333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73AFE59-5F3D-ECCA-A8E0-946D631A287C}"/>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ED493867-15C7-1C77-92D8-A11484BA2A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31096EC1-A28E-04A8-FC66-158699714B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2069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F397E58-E869-7942-637D-943B09D0A39B}"/>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A38A1829-0401-56D7-AB28-2D87789D4D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0A3C0CB1-FB11-CAD4-26B5-379C67F877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513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F9CEAE9-AC0D-749B-6607-F7740D0B7F0A}"/>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0D3CE95C-B093-DDC6-CCB4-BFC1D5686A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546B2170-7F3F-EA23-2391-134B398A8E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0555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43A2BC1-0CD6-20AC-5C5E-DCA28CB9DEB1}"/>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1B19B30B-B99D-DDF6-F0BE-E8A1BE6564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0DACC8F0-8E50-BB08-D027-28DD2C61C1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304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4FF88EE-C4AC-6B7B-B3F5-E4708FDD1A5D}"/>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C9B1B4D5-B13A-EE91-DD23-1B040C2AC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D6E5A463-F103-C734-3BB1-CC579E4AAE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6959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F9353FD-EC74-0531-05EC-CA6B1B876CAF}"/>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3CFAFF39-474D-AB0B-0A71-B7A06646E3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C2E746DF-8D81-0451-06BA-9BEE11B8D5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2524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CC340CB-55AC-3089-4252-38979C207FDF}"/>
            </a:ext>
          </a:extLst>
        </p:cNvPr>
        <p:cNvGrpSpPr/>
        <p:nvPr/>
      </p:nvGrpSpPr>
      <p:grpSpPr>
        <a:xfrm>
          <a:off x="0" y="0"/>
          <a:ext cx="0" cy="0"/>
          <a:chOff x="0" y="0"/>
          <a:chExt cx="0" cy="0"/>
        </a:xfrm>
      </p:grpSpPr>
      <p:sp>
        <p:nvSpPr>
          <p:cNvPr id="93" name="Google Shape;93;g96d2ad4918_1_37:notes">
            <a:extLst>
              <a:ext uri="{FF2B5EF4-FFF2-40B4-BE49-F238E27FC236}">
                <a16:creationId xmlns:a16="http://schemas.microsoft.com/office/drawing/2014/main" id="{415344B6-73D4-44AB-3E1F-18DF1A508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6d2ad4918_1_37:notes">
            <a:extLst>
              <a:ext uri="{FF2B5EF4-FFF2-40B4-BE49-F238E27FC236}">
                <a16:creationId xmlns:a16="http://schemas.microsoft.com/office/drawing/2014/main" id="{1CAA4FB4-892E-09B4-7DD4-453BCD2445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61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362AD1D9-BF5B-B69F-B9BC-88DBFB2F332F}"/>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0562B6D4-D159-CACD-2767-3C4A02241D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7BE4E349-A53C-07C8-14A9-C8093338CA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5632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21B0214-0751-0012-07D7-38CCA07B0D53}"/>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A5B4DD1B-19FC-0DD7-FC41-8140A6F563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6BB0B92F-1320-14B6-B95E-3EDD3E57E4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4291784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3F8825F-10B7-401C-8D7B-0C61CA7B6F17}"/>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3B494E39-E39B-EF86-4DDA-97E257620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9FE35620-AD25-C62A-0A02-86257D95A1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69359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8308B2B3-A992-807C-79D5-BCA23E66B422}"/>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5A93585-B725-EBCD-0A60-B7536FAF5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C308BCF9-5263-29F2-FD48-49379E2784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294116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2B662BE-6A9C-001D-1099-0078F1C7C367}"/>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AD93BDA2-3B6C-59DA-53BA-8A576BD1A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C4F83AA8-70E6-CD28-3540-14A625749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991986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62E812A-D29A-88A4-2437-1566B6C7302E}"/>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D8FA6F16-AC0F-C581-B426-5254CBC1C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F075DF66-D392-0EBD-6B25-AC32C99337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5836352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0750185-0C5A-C763-F782-D74D05AB4811}"/>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D60BC093-E3F6-7579-92E9-F98A5490FA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553C75FC-1B7C-AFE4-9E65-8753DDB519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09873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187F562-EC13-3A0E-CE81-DA8CC32C38AC}"/>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D66ACE65-91D5-F5D7-1C1B-DA038D877A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8753D574-E146-F8AF-0317-601613519D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801059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34CDFF8-5169-DEA3-5430-6F304AC5744D}"/>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F7651B6-9B62-653D-7ADF-B1ADD2E3C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DCCE728D-70D4-2382-F807-4211F6BD8F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924956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1070389-3145-0092-DBE9-1C3343C86AE9}"/>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4A4E8B8D-B673-451F-EDEB-31BA5E69C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8FDF40CC-2D3F-CD7E-C660-07A210A16B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082069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AE5B39A-F02C-CDDA-47C7-1083A2D4E8BB}"/>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2A62B2A6-68F8-F277-E53D-2B1DEE7DDC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C4B4F681-6892-DA39-BDB9-FB06F8079B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491843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D5DE45B-D0AF-2A65-8C4F-200608074898}"/>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B9559E70-AC86-9CB4-72E7-3B0AC9134D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59483ED7-E5BF-169E-499C-2464FDEEFE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3422284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B347FD4-4134-75AB-9659-98F62AD90A2A}"/>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64B7A3C-6FBD-6334-189F-4421B6C2FE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6DCA9871-05BA-CE8D-2071-8EC014AA5D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35933612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E41CF6E-0C1A-4166-2E9E-8FB0AC39D9FE}"/>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62E4553-1A6C-A549-AA9E-607DBCB410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CC374633-D60F-519A-E701-0DFBB625B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5932523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B66D992-42E1-BD08-9DC6-B560379E0375}"/>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58CA5C58-B7EB-755F-2D6E-01F4614B41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B13AE52E-E681-7511-A355-620555BC2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35364703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3DDF1A28-C138-CD1B-585E-8469A4C8A0CA}"/>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79F96B3F-29FD-8F90-1641-5B96D824F0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9A36F234-C6ED-32FB-42FA-8843970B49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482924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8BE75AD7-770B-9786-7974-2F15AB4AAE17}"/>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3EF96ABB-D0EB-408E-DDDC-F29FBC780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D4BADFC3-9D38-6094-2C9E-705C4876E1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42193804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83F3EBB-89DA-396F-045B-142A213DC06F}"/>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3F4A17AC-16D3-D5C6-4957-96F00C1499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164EE3DA-35F2-76C1-32C2-DE7BEC3532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39444981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607310F-8B4E-A7F3-4E6B-A2C1E4D8881E}"/>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A9E69E2D-598C-61C7-58CC-7244DEA5EC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5EFA7F8F-BD64-DF64-160D-0CC9D0FFC7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3566540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483C09A-0DFD-0D16-D642-322D3A16DB8E}"/>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3C6EB89-5834-242D-8A92-B4D56BCF8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325252A9-8866-B08E-84B1-CD24559608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3732115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AAC9D9BF-BC55-E2DE-50AD-6530B4ACBEE0}"/>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1478CDDE-C494-63ED-B624-6066BE799F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12382DA5-452E-14A9-65C7-1F3C2B0ADB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8007960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47034FA-BBE2-A19C-8F2B-3B4EAA251145}"/>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815AFCFE-A881-FEF3-FAF1-CCE7D3E07A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32BF0137-9EB6-41BB-F45A-BA57D434AA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6333352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0DF5E67-36E8-2034-9BA2-B7EC24C5A892}"/>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659A76AF-D93C-68D0-1F54-197A87D668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4627A26A-4F79-CE8E-9E77-623F8133ED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5149749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B4FA7C1-87B8-F00D-11E8-C1A930517095}"/>
            </a:ext>
          </a:extLst>
        </p:cNvPr>
        <p:cNvGrpSpPr/>
        <p:nvPr/>
      </p:nvGrpSpPr>
      <p:grpSpPr>
        <a:xfrm>
          <a:off x="0" y="0"/>
          <a:ext cx="0" cy="0"/>
          <a:chOff x="0" y="0"/>
          <a:chExt cx="0" cy="0"/>
        </a:xfrm>
      </p:grpSpPr>
      <p:sp>
        <p:nvSpPr>
          <p:cNvPr id="112" name="Google Shape;112;g96d2ad4918_1_90:notes">
            <a:extLst>
              <a:ext uri="{FF2B5EF4-FFF2-40B4-BE49-F238E27FC236}">
                <a16:creationId xmlns:a16="http://schemas.microsoft.com/office/drawing/2014/main" id="{7775A3D5-EFBF-6095-169B-212C78CF4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96d2ad4918_1_90:notes">
            <a:extLst>
              <a:ext uri="{FF2B5EF4-FFF2-40B4-BE49-F238E27FC236}">
                <a16:creationId xmlns:a16="http://schemas.microsoft.com/office/drawing/2014/main" id="{D72CE0E6-719F-081B-7DAC-E6588137AB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2804384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98f374f89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98f374f89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hyperlink" Target="https://www.jpmorganchase.com/about/technolog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hyperlink" Target="https://ir.dominos.com/news-releases/news-release-details/dominosr-updates-its-iconic-industry-first-tracker-even-bette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hyperlink" Target="https://www.deere.com/en/technology-products/precision-ag-technology/operations-cente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hyperlink" Target="https://www.bsr.org/en/case-studies/center-for-technology-and-sustainability-orion-technology-up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2.jfif"/></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hyperlink" Target="https://earth-defense-comms.vercel.app/" TargetMode="Externa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hyperlink" Target="https://www.linkedin.com/in/john-blackburn-votech/" TargetMode="External"/><Relationship Id="rId3" Type="http://schemas.openxmlformats.org/officeDocument/2006/relationships/image" Target="../media/image1.png"/><Relationship Id="rId7" Type="http://schemas.openxmlformats.org/officeDocument/2006/relationships/hyperlink" Target="https://github.com/JHBlackburn/UNF-Coggin-Demo-June-2026"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hyperlink" Target="https://www.flatratedev.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3"/>
          <p:cNvPicPr preferRelativeResize="0"/>
          <p:nvPr/>
        </p:nvPicPr>
        <p:blipFill>
          <a:blip r:embed="rId3">
            <a:alphaModFix/>
          </a:blip>
          <a:stretch>
            <a:fillRect/>
          </a:stretch>
        </p:blipFill>
        <p:spPr>
          <a:xfrm rot="-4">
            <a:off x="7122318" y="166334"/>
            <a:ext cx="1748956" cy="552825"/>
          </a:xfrm>
          <a:prstGeom prst="rect">
            <a:avLst/>
          </a:prstGeom>
          <a:noFill/>
          <a:ln>
            <a:noFill/>
          </a:ln>
        </p:spPr>
      </p:pic>
      <p:sp>
        <p:nvSpPr>
          <p:cNvPr id="65" name="Google Shape;65;p13"/>
          <p:cNvSpPr txBox="1">
            <a:spLocks noGrp="1"/>
          </p:cNvSpPr>
          <p:nvPr>
            <p:ph type="ctrTitle"/>
          </p:nvPr>
        </p:nvSpPr>
        <p:spPr>
          <a:xfrm>
            <a:off x="159550" y="190821"/>
            <a:ext cx="6059766" cy="173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solidFill>
                  <a:schemeClr val="accent3">
                    <a:lumMod val="10000"/>
                  </a:schemeClr>
                </a:solidFill>
              </a:rPr>
              <a:t>Buy vs Build</a:t>
            </a:r>
            <a:endParaRPr sz="4000" dirty="0">
              <a:solidFill>
                <a:schemeClr val="accent3">
                  <a:lumMod val="10000"/>
                </a:schemeClr>
              </a:solidFill>
            </a:endParaRPr>
          </a:p>
          <a:p>
            <a:pPr marL="0" lvl="0" indent="0" algn="l" rtl="0">
              <a:spcBef>
                <a:spcPts val="0"/>
              </a:spcBef>
              <a:spcAft>
                <a:spcPts val="0"/>
              </a:spcAft>
              <a:buNone/>
            </a:pPr>
            <a:r>
              <a:rPr lang="en" dirty="0">
                <a:solidFill>
                  <a:srgbClr val="70060E"/>
                </a:solidFill>
              </a:rPr>
              <a:t>  In the Age of Vibe Coding</a:t>
            </a:r>
            <a:endParaRPr dirty="0">
              <a:solidFill>
                <a:srgbClr val="70060E"/>
              </a:solidFill>
            </a:endParaRPr>
          </a:p>
        </p:txBody>
      </p:sp>
      <p:sp>
        <p:nvSpPr>
          <p:cNvPr id="66" name="Google Shape;66;p13"/>
          <p:cNvSpPr txBox="1">
            <a:spLocks noGrp="1"/>
          </p:cNvSpPr>
          <p:nvPr>
            <p:ph type="subTitle" idx="1"/>
          </p:nvPr>
        </p:nvSpPr>
        <p:spPr>
          <a:xfrm>
            <a:off x="4217581" y="3558363"/>
            <a:ext cx="4562544" cy="10196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EFEFEF"/>
                </a:solidFill>
              </a:rPr>
              <a:t>John Blackburn</a:t>
            </a:r>
            <a:endParaRPr sz="2400" dirty="0">
              <a:solidFill>
                <a:srgbClr val="EFEFEF"/>
              </a:solidFill>
            </a:endParaRPr>
          </a:p>
          <a:p>
            <a:pPr marL="0" lvl="0" indent="0" algn="l" rtl="0">
              <a:spcBef>
                <a:spcPts val="0"/>
              </a:spcBef>
              <a:spcAft>
                <a:spcPts val="0"/>
              </a:spcAft>
              <a:buNone/>
            </a:pPr>
            <a:r>
              <a:rPr lang="en" sz="2000" dirty="0">
                <a:solidFill>
                  <a:srgbClr val="EFEFEF"/>
                </a:solidFill>
              </a:rPr>
              <a:t>Manager, VoTech Recruiting, LLC</a:t>
            </a:r>
            <a:endParaRPr sz="2000" dirty="0">
              <a:solidFill>
                <a:srgbClr val="EFEFEF"/>
              </a:solidFill>
            </a:endParaRPr>
          </a:p>
        </p:txBody>
      </p:sp>
      <p:pic>
        <p:nvPicPr>
          <p:cNvPr id="4" name="Picture 3">
            <a:extLst>
              <a:ext uri="{FF2B5EF4-FFF2-40B4-BE49-F238E27FC236}">
                <a16:creationId xmlns:a16="http://schemas.microsoft.com/office/drawing/2014/main" id="{722A603D-7FFD-4C8C-B9B5-B16EE7E50509}"/>
              </a:ext>
            </a:extLst>
          </p:cNvPr>
          <p:cNvPicPr>
            <a:picLocks noChangeAspect="1"/>
          </p:cNvPicPr>
          <p:nvPr/>
        </p:nvPicPr>
        <p:blipFill>
          <a:blip r:embed="rId4"/>
          <a:stretch>
            <a:fillRect/>
          </a:stretch>
        </p:blipFill>
        <p:spPr>
          <a:xfrm>
            <a:off x="6674648" y="719160"/>
            <a:ext cx="2758595" cy="919531"/>
          </a:xfrm>
          <a:prstGeom prst="rect">
            <a:avLst/>
          </a:prstGeom>
        </p:spPr>
      </p:pic>
      <p:cxnSp>
        <p:nvCxnSpPr>
          <p:cNvPr id="6" name="Straight Connector 5">
            <a:extLst>
              <a:ext uri="{FF2B5EF4-FFF2-40B4-BE49-F238E27FC236}">
                <a16:creationId xmlns:a16="http://schemas.microsoft.com/office/drawing/2014/main" id="{D470AF6F-EE3D-6A88-3302-01B96407F1E9}"/>
              </a:ext>
            </a:extLst>
          </p:cNvPr>
          <p:cNvCxnSpPr/>
          <p:nvPr/>
        </p:nvCxnSpPr>
        <p:spPr>
          <a:xfrm>
            <a:off x="7122318" y="719160"/>
            <a:ext cx="1748958" cy="0"/>
          </a:xfrm>
          <a:prstGeom prst="line">
            <a:avLst/>
          </a:prstGeom>
          <a:ln w="22225">
            <a:solidFill>
              <a:schemeClr val="accent3">
                <a:lumMod val="1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Introductions</a:t>
            </a:r>
            <a:endParaRPr b="1" dirty="0"/>
          </a:p>
        </p:txBody>
      </p:sp>
      <p:sp>
        <p:nvSpPr>
          <p:cNvPr id="73" name="Google Shape;73;p14"/>
          <p:cNvSpPr txBox="1">
            <a:spLocks noGrp="1"/>
          </p:cNvSpPr>
          <p:nvPr>
            <p:ph type="body" idx="2"/>
          </p:nvPr>
        </p:nvSpPr>
        <p:spPr>
          <a:xfrm>
            <a:off x="3174487" y="1251483"/>
            <a:ext cx="5897799" cy="307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rgbClr val="000000"/>
                </a:solidFill>
              </a:rPr>
              <a:t>Who Am I?</a:t>
            </a:r>
            <a:endParaRPr sz="2000" b="1" dirty="0">
              <a:solidFill>
                <a:srgbClr val="000000"/>
              </a:solidFill>
            </a:endParaRPr>
          </a:p>
          <a:p>
            <a:pPr marL="457200" lvl="0" indent="-311150" algn="l" rtl="0">
              <a:spcBef>
                <a:spcPts val="1600"/>
              </a:spcBef>
              <a:spcAft>
                <a:spcPts val="0"/>
              </a:spcAft>
              <a:buClr>
                <a:srgbClr val="000000"/>
              </a:buClr>
              <a:buSzPts val="1300"/>
              <a:buChar char="●"/>
            </a:pPr>
            <a:r>
              <a:rPr lang="en" sz="1600" dirty="0">
                <a:solidFill>
                  <a:srgbClr val="000000"/>
                </a:solidFill>
              </a:rPr>
              <a:t>Worked as a Teacher in Jax at Paxon while in Grad School</a:t>
            </a:r>
            <a:endParaRPr lang="en-US" sz="1600" dirty="0">
              <a:solidFill>
                <a:srgbClr val="000000"/>
              </a:solidFill>
            </a:endParaRPr>
          </a:p>
          <a:p>
            <a:pPr marL="457200" lvl="0" indent="-311150" algn="l" rtl="0">
              <a:spcBef>
                <a:spcPts val="0"/>
              </a:spcBef>
              <a:spcAft>
                <a:spcPts val="0"/>
              </a:spcAft>
              <a:buClr>
                <a:srgbClr val="000000"/>
              </a:buClr>
              <a:buSzPts val="1300"/>
              <a:buChar char="●"/>
            </a:pPr>
            <a:r>
              <a:rPr lang="en-US" sz="1600" dirty="0">
                <a:solidFill>
                  <a:srgbClr val="000000"/>
                </a:solidFill>
              </a:rPr>
              <a:t>Degrees in Physics (BS) and Mathematics (MS) from UNF</a:t>
            </a:r>
            <a:endParaRPr lang="en-US" sz="1600" b="1" dirty="0">
              <a:solidFill>
                <a:srgbClr val="70060E"/>
              </a:solidFill>
            </a:endParaRPr>
          </a:p>
          <a:p>
            <a:pPr marL="457200" lvl="0" indent="-311150" algn="l" rtl="0">
              <a:spcBef>
                <a:spcPts val="0"/>
              </a:spcBef>
              <a:spcAft>
                <a:spcPts val="0"/>
              </a:spcAft>
              <a:buClr>
                <a:srgbClr val="000000"/>
              </a:buClr>
              <a:buSzPts val="1300"/>
              <a:buChar char="●"/>
            </a:pPr>
            <a:r>
              <a:rPr lang="en-US" sz="1600" dirty="0">
                <a:solidFill>
                  <a:srgbClr val="000000"/>
                </a:solidFill>
              </a:rPr>
              <a:t>12 Years experience building new systems and integrating old nasty ones together</a:t>
            </a:r>
          </a:p>
          <a:p>
            <a:pPr marL="457200" lvl="0" indent="-311150" algn="l" rtl="0">
              <a:spcBef>
                <a:spcPts val="0"/>
              </a:spcBef>
              <a:spcAft>
                <a:spcPts val="0"/>
              </a:spcAft>
              <a:buClr>
                <a:srgbClr val="000000"/>
              </a:buClr>
              <a:buSzPts val="1300"/>
              <a:buChar char="●"/>
            </a:pPr>
            <a:r>
              <a:rPr lang="en" sz="1600" dirty="0">
                <a:solidFill>
                  <a:srgbClr val="000000"/>
                </a:solidFill>
              </a:rPr>
              <a:t>I love solving problems for people and companies!</a:t>
            </a:r>
          </a:p>
          <a:p>
            <a:pPr marL="457200" lvl="0" indent="-311150" algn="l" rtl="0">
              <a:spcBef>
                <a:spcPts val="0"/>
              </a:spcBef>
              <a:spcAft>
                <a:spcPts val="0"/>
              </a:spcAft>
              <a:buClr>
                <a:srgbClr val="000000"/>
              </a:buClr>
              <a:buSzPts val="1300"/>
              <a:buChar char="●"/>
            </a:pPr>
            <a:r>
              <a:rPr lang="en" sz="1600" dirty="0">
                <a:solidFill>
                  <a:srgbClr val="000000"/>
                </a:solidFill>
              </a:rPr>
              <a:t>Recently left Suddath as an Application Architect</a:t>
            </a:r>
          </a:p>
          <a:p>
            <a:pPr marL="457200" lvl="0" indent="-311150" algn="l" rtl="0">
              <a:spcBef>
                <a:spcPts val="0"/>
              </a:spcBef>
              <a:spcAft>
                <a:spcPts val="0"/>
              </a:spcAft>
              <a:buClr>
                <a:srgbClr val="000000"/>
              </a:buClr>
              <a:buSzPts val="1300"/>
              <a:buChar char="●"/>
            </a:pPr>
            <a:r>
              <a:rPr lang="en" sz="1600" dirty="0">
                <a:solidFill>
                  <a:srgbClr val="000000"/>
                </a:solidFill>
              </a:rPr>
              <a:t>Diving full time into </a:t>
            </a:r>
            <a:r>
              <a:rPr lang="en" sz="1600" b="1" dirty="0">
                <a:solidFill>
                  <a:srgbClr val="70060E"/>
                </a:solidFill>
              </a:rPr>
              <a:t>VoTech Recruiting </a:t>
            </a:r>
          </a:p>
          <a:p>
            <a:pPr marL="146050" lvl="0" indent="0" algn="l" rtl="0">
              <a:spcBef>
                <a:spcPts val="0"/>
              </a:spcBef>
              <a:spcAft>
                <a:spcPts val="0"/>
              </a:spcAft>
              <a:buClr>
                <a:srgbClr val="000000"/>
              </a:buClr>
              <a:buSzPts val="1300"/>
              <a:buNone/>
            </a:pPr>
            <a:r>
              <a:rPr lang="en" sz="1600" dirty="0">
                <a:solidFill>
                  <a:srgbClr val="000000"/>
                </a:solidFill>
              </a:rPr>
              <a:t>		and launching </a:t>
            </a:r>
            <a:r>
              <a:rPr lang="en" sz="1600" b="1" dirty="0">
                <a:solidFill>
                  <a:srgbClr val="70060E"/>
                </a:solidFill>
              </a:rPr>
              <a:t>Flat Rate Dev</a:t>
            </a:r>
          </a:p>
        </p:txBody>
      </p:sp>
      <p:grpSp>
        <p:nvGrpSpPr>
          <p:cNvPr id="16" name="Group 15">
            <a:extLst>
              <a:ext uri="{FF2B5EF4-FFF2-40B4-BE49-F238E27FC236}">
                <a16:creationId xmlns:a16="http://schemas.microsoft.com/office/drawing/2014/main" id="{D5B26B74-5298-5E3A-CC7B-3921216B5D26}"/>
              </a:ext>
            </a:extLst>
          </p:cNvPr>
          <p:cNvGrpSpPr/>
          <p:nvPr/>
        </p:nvGrpSpPr>
        <p:grpSpPr>
          <a:xfrm>
            <a:off x="0" y="4595905"/>
            <a:ext cx="3232298" cy="547595"/>
            <a:chOff x="0" y="4595905"/>
            <a:chExt cx="3232298" cy="547595"/>
          </a:xfrm>
        </p:grpSpPr>
        <p:pic>
          <p:nvPicPr>
            <p:cNvPr id="2" name="Google Shape;64;p13">
              <a:extLst>
                <a:ext uri="{FF2B5EF4-FFF2-40B4-BE49-F238E27FC236}">
                  <a16:creationId xmlns:a16="http://schemas.microsoft.com/office/drawing/2014/main" id="{6494F92E-14AB-72F6-A720-4A2BDF15B6E6}"/>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4" name="Straight Connector 3">
              <a:extLst>
                <a:ext uri="{FF2B5EF4-FFF2-40B4-BE49-F238E27FC236}">
                  <a16:creationId xmlns:a16="http://schemas.microsoft.com/office/drawing/2014/main" id="{D00FA9C4-CB69-02F5-A932-06EB54100FB7}"/>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470AD9E-A4AF-EC5C-1285-DDAE1EAF51C7}"/>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pic>
        <p:nvPicPr>
          <p:cNvPr id="10" name="Picture 9">
            <a:extLst>
              <a:ext uri="{FF2B5EF4-FFF2-40B4-BE49-F238E27FC236}">
                <a16:creationId xmlns:a16="http://schemas.microsoft.com/office/drawing/2014/main" id="{1DBAD734-7366-6E64-8131-3CFB57B395D7}"/>
              </a:ext>
            </a:extLst>
          </p:cNvPr>
          <p:cNvPicPr>
            <a:picLocks noChangeAspect="1"/>
          </p:cNvPicPr>
          <p:nvPr/>
        </p:nvPicPr>
        <p:blipFill>
          <a:blip r:embed="rId4"/>
          <a:stretch>
            <a:fillRect/>
          </a:stretch>
        </p:blipFill>
        <p:spPr>
          <a:xfrm>
            <a:off x="541817" y="1392115"/>
            <a:ext cx="2541625" cy="29734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Who is VoTech Recruiting?</a:t>
            </a:r>
            <a:endParaRPr dirty="0"/>
          </a:p>
        </p:txBody>
      </p:sp>
      <p:sp>
        <p:nvSpPr>
          <p:cNvPr id="84" name="Google Shape;84;p15"/>
          <p:cNvSpPr txBox="1">
            <a:spLocks noGrp="1"/>
          </p:cNvSpPr>
          <p:nvPr>
            <p:ph type="body" idx="2"/>
          </p:nvPr>
        </p:nvSpPr>
        <p:spPr>
          <a:xfrm>
            <a:off x="3572428" y="1165365"/>
            <a:ext cx="2225747" cy="4154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dirty="0">
                <a:solidFill>
                  <a:srgbClr val="70060E"/>
                </a:solidFill>
              </a:rPr>
              <a:t>What we do</a:t>
            </a:r>
            <a:endParaRPr sz="2800" b="1" dirty="0">
              <a:solidFill>
                <a:srgbClr val="70060E"/>
              </a:solidFill>
            </a:endParaRPr>
          </a:p>
          <a:p>
            <a:pPr marL="457200" lvl="0" indent="0" algn="l" rtl="0">
              <a:spcBef>
                <a:spcPts val="1600"/>
              </a:spcBef>
              <a:spcAft>
                <a:spcPts val="1600"/>
              </a:spcAft>
              <a:buNone/>
            </a:pPr>
            <a:endParaRPr dirty="0">
              <a:solidFill>
                <a:srgbClr val="000000"/>
              </a:solidFill>
            </a:endParaRPr>
          </a:p>
        </p:txBody>
      </p:sp>
      <p:sp>
        <p:nvSpPr>
          <p:cNvPr id="5" name="Google Shape;84;p15">
            <a:extLst>
              <a:ext uri="{FF2B5EF4-FFF2-40B4-BE49-F238E27FC236}">
                <a16:creationId xmlns:a16="http://schemas.microsoft.com/office/drawing/2014/main" id="{02588465-D954-40A0-B63C-824F4E4A1220}"/>
              </a:ext>
            </a:extLst>
          </p:cNvPr>
          <p:cNvSpPr txBox="1">
            <a:spLocks/>
          </p:cNvSpPr>
          <p:nvPr/>
        </p:nvSpPr>
        <p:spPr>
          <a:xfrm>
            <a:off x="5372258" y="2747825"/>
            <a:ext cx="3524361" cy="18359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000" b="1" dirty="0">
                <a:solidFill>
                  <a:schemeClr val="accent3">
                    <a:lumMod val="10000"/>
                  </a:schemeClr>
                </a:solidFill>
              </a:rPr>
              <a:t>Pay for Software, </a:t>
            </a:r>
          </a:p>
          <a:p>
            <a:pPr marL="0" indent="0">
              <a:buFont typeface="Roboto"/>
              <a:buNone/>
            </a:pPr>
            <a:r>
              <a:rPr lang="en-US" sz="2000" b="1" dirty="0">
                <a:solidFill>
                  <a:schemeClr val="accent3">
                    <a:lumMod val="10000"/>
                  </a:schemeClr>
                </a:solidFill>
              </a:rPr>
              <a:t>	Not Hours.</a:t>
            </a:r>
          </a:p>
          <a:p>
            <a:pPr marL="0" indent="0">
              <a:buFont typeface="Roboto"/>
              <a:buNone/>
            </a:pPr>
            <a:endParaRPr lang="en-US" dirty="0">
              <a:solidFill>
                <a:srgbClr val="000000"/>
              </a:solidFill>
            </a:endParaRPr>
          </a:p>
        </p:txBody>
      </p:sp>
      <p:cxnSp>
        <p:nvCxnSpPr>
          <p:cNvPr id="6" name="Straight Connector 5">
            <a:extLst>
              <a:ext uri="{FF2B5EF4-FFF2-40B4-BE49-F238E27FC236}">
                <a16:creationId xmlns:a16="http://schemas.microsoft.com/office/drawing/2014/main" id="{8FEA2FA2-4192-3002-ED4B-A6A63567EA1A}"/>
              </a:ext>
            </a:extLst>
          </p:cNvPr>
          <p:cNvCxnSpPr>
            <a:cxnSpLocks/>
          </p:cNvCxnSpPr>
          <p:nvPr/>
        </p:nvCxnSpPr>
        <p:spPr>
          <a:xfrm>
            <a:off x="4572000" y="1804950"/>
            <a:ext cx="0" cy="2714846"/>
          </a:xfrm>
          <a:prstGeom prst="line">
            <a:avLst/>
          </a:prstGeom>
          <a:ln w="22225">
            <a:solidFill>
              <a:schemeClr val="accent3">
                <a:lumMod val="10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09FE2680-589B-F0CF-7FF2-36191EF4854A}"/>
              </a:ext>
            </a:extLst>
          </p:cNvPr>
          <p:cNvGrpSpPr/>
          <p:nvPr/>
        </p:nvGrpSpPr>
        <p:grpSpPr>
          <a:xfrm>
            <a:off x="1279113" y="1788083"/>
            <a:ext cx="3313976" cy="984148"/>
            <a:chOff x="612979" y="1722475"/>
            <a:chExt cx="3313976" cy="984148"/>
          </a:xfrm>
        </p:grpSpPr>
        <p:sp>
          <p:nvSpPr>
            <p:cNvPr id="4" name="Google Shape;84;p15">
              <a:extLst>
                <a:ext uri="{FF2B5EF4-FFF2-40B4-BE49-F238E27FC236}">
                  <a16:creationId xmlns:a16="http://schemas.microsoft.com/office/drawing/2014/main" id="{965F6644-DD4D-00CA-A5C1-DB7B4BC77006}"/>
                </a:ext>
              </a:extLst>
            </p:cNvPr>
            <p:cNvSpPr txBox="1">
              <a:spLocks/>
            </p:cNvSpPr>
            <p:nvPr/>
          </p:nvSpPr>
          <p:spPr>
            <a:xfrm>
              <a:off x="612979" y="2082923"/>
              <a:ext cx="3313976"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800" b="1" dirty="0">
                  <a:solidFill>
                    <a:srgbClr val="70060E"/>
                  </a:solidFill>
                </a:rPr>
                <a:t>Recruiting</a:t>
              </a:r>
            </a:p>
          </p:txBody>
        </p:sp>
        <p:pic>
          <p:nvPicPr>
            <p:cNvPr id="9" name="Google Shape;64;p13">
              <a:extLst>
                <a:ext uri="{FF2B5EF4-FFF2-40B4-BE49-F238E27FC236}">
                  <a16:creationId xmlns:a16="http://schemas.microsoft.com/office/drawing/2014/main" id="{33271ECF-791F-5944-190B-DE47C22ED5C5}"/>
                </a:ext>
              </a:extLst>
            </p:cNvPr>
            <p:cNvPicPr preferRelativeResize="0"/>
            <p:nvPr/>
          </p:nvPicPr>
          <p:blipFill>
            <a:blip r:embed="rId3">
              <a:alphaModFix/>
            </a:blip>
            <a:stretch>
              <a:fillRect/>
            </a:stretch>
          </p:blipFill>
          <p:spPr>
            <a:xfrm rot="-4">
              <a:off x="612980" y="1722475"/>
              <a:ext cx="1789975" cy="563215"/>
            </a:xfrm>
            <a:prstGeom prst="rect">
              <a:avLst/>
            </a:prstGeom>
            <a:noFill/>
            <a:ln>
              <a:noFill/>
            </a:ln>
          </p:spPr>
        </p:pic>
      </p:grpSp>
      <p:pic>
        <p:nvPicPr>
          <p:cNvPr id="10" name="Picture 9">
            <a:extLst>
              <a:ext uri="{FF2B5EF4-FFF2-40B4-BE49-F238E27FC236}">
                <a16:creationId xmlns:a16="http://schemas.microsoft.com/office/drawing/2014/main" id="{55568076-2203-A7A2-9A6D-23F1925C526B}"/>
              </a:ext>
            </a:extLst>
          </p:cNvPr>
          <p:cNvPicPr>
            <a:picLocks noChangeAspect="1"/>
          </p:cNvPicPr>
          <p:nvPr/>
        </p:nvPicPr>
        <p:blipFill>
          <a:blip r:embed="rId4"/>
          <a:stretch>
            <a:fillRect/>
          </a:stretch>
        </p:blipFill>
        <p:spPr>
          <a:xfrm>
            <a:off x="5372258" y="1788081"/>
            <a:ext cx="2758595" cy="919531"/>
          </a:xfrm>
          <a:prstGeom prst="rect">
            <a:avLst/>
          </a:prstGeom>
        </p:spPr>
      </p:pic>
      <p:sp>
        <p:nvSpPr>
          <p:cNvPr id="11" name="Google Shape;84;p15">
            <a:extLst>
              <a:ext uri="{FF2B5EF4-FFF2-40B4-BE49-F238E27FC236}">
                <a16:creationId xmlns:a16="http://schemas.microsoft.com/office/drawing/2014/main" id="{6D2FF08A-E84E-2DF0-287E-2059B3B8E755}"/>
              </a:ext>
            </a:extLst>
          </p:cNvPr>
          <p:cNvSpPr txBox="1">
            <a:spLocks/>
          </p:cNvSpPr>
          <p:nvPr/>
        </p:nvSpPr>
        <p:spPr>
          <a:xfrm>
            <a:off x="1255998" y="2722937"/>
            <a:ext cx="3716131" cy="15413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000" b="1" dirty="0">
                <a:solidFill>
                  <a:schemeClr val="accent3">
                    <a:lumMod val="10000"/>
                  </a:schemeClr>
                </a:solidFill>
              </a:rPr>
              <a:t>By Developers. </a:t>
            </a:r>
          </a:p>
          <a:p>
            <a:pPr marL="0" indent="0">
              <a:buFont typeface="Roboto"/>
              <a:buNone/>
            </a:pPr>
            <a:r>
              <a:rPr lang="en-US" sz="2000" b="1" dirty="0">
                <a:solidFill>
                  <a:schemeClr val="accent3">
                    <a:lumMod val="10000"/>
                  </a:schemeClr>
                </a:solidFill>
              </a:rPr>
              <a:t>For Developers.</a:t>
            </a:r>
          </a:p>
          <a:p>
            <a:pPr indent="0">
              <a:spcBef>
                <a:spcPts val="1600"/>
              </a:spcBef>
              <a:spcAft>
                <a:spcPts val="1600"/>
              </a:spcAft>
              <a:buFont typeface="Roboto"/>
              <a:buNone/>
            </a:pPr>
            <a:endParaRPr lang="en-US" dirty="0">
              <a:solidFill>
                <a:srgbClr val="000000"/>
              </a:solidFill>
            </a:endParaRPr>
          </a:p>
        </p:txBody>
      </p:sp>
      <p:grpSp>
        <p:nvGrpSpPr>
          <p:cNvPr id="16" name="Group 15">
            <a:extLst>
              <a:ext uri="{FF2B5EF4-FFF2-40B4-BE49-F238E27FC236}">
                <a16:creationId xmlns:a16="http://schemas.microsoft.com/office/drawing/2014/main" id="{3CCC029C-B009-0B04-EE70-5AB1ACC5A937}"/>
              </a:ext>
            </a:extLst>
          </p:cNvPr>
          <p:cNvGrpSpPr/>
          <p:nvPr/>
        </p:nvGrpSpPr>
        <p:grpSpPr>
          <a:xfrm>
            <a:off x="0" y="4595905"/>
            <a:ext cx="3232298" cy="547595"/>
            <a:chOff x="0" y="4595905"/>
            <a:chExt cx="3232298" cy="547595"/>
          </a:xfrm>
        </p:grpSpPr>
        <p:pic>
          <p:nvPicPr>
            <p:cNvPr id="17" name="Google Shape;64;p13">
              <a:extLst>
                <a:ext uri="{FF2B5EF4-FFF2-40B4-BE49-F238E27FC236}">
                  <a16:creationId xmlns:a16="http://schemas.microsoft.com/office/drawing/2014/main" id="{238CE0D0-A63A-EC97-5100-182E08EBDC3A}"/>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18" name="Straight Connector 17">
              <a:extLst>
                <a:ext uri="{FF2B5EF4-FFF2-40B4-BE49-F238E27FC236}">
                  <a16:creationId xmlns:a16="http://schemas.microsoft.com/office/drawing/2014/main" id="{C0A7C43C-A550-2F36-7436-7D6A6B6D4FB2}"/>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C975C6-E2DC-BD86-4CCF-D1F428C356E2}"/>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This talk, in one sentence.</a:t>
            </a:r>
            <a:endParaRPr b="1" dirty="0"/>
          </a:p>
        </p:txBody>
      </p:sp>
      <p:sp>
        <p:nvSpPr>
          <p:cNvPr id="90" name="Google Shape;90;p16"/>
          <p:cNvSpPr txBox="1">
            <a:spLocks noGrp="1"/>
          </p:cNvSpPr>
          <p:nvPr>
            <p:ph type="body" idx="2"/>
          </p:nvPr>
        </p:nvSpPr>
        <p:spPr>
          <a:xfrm>
            <a:off x="228275" y="1370850"/>
            <a:ext cx="5622600" cy="307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dirty="0">
                <a:solidFill>
                  <a:srgbClr val="000000"/>
                </a:solidFill>
              </a:rPr>
              <a:t>If you remember nothing else</a:t>
            </a:r>
            <a:endParaRPr sz="2800" b="1" dirty="0">
              <a:solidFill>
                <a:srgbClr val="000000"/>
              </a:solidFill>
            </a:endParaRPr>
          </a:p>
          <a:p>
            <a:pPr marL="457200" lvl="0" indent="0" algn="l" rtl="0">
              <a:spcBef>
                <a:spcPts val="1600"/>
              </a:spcBef>
              <a:spcAft>
                <a:spcPts val="0"/>
              </a:spcAft>
              <a:buNone/>
            </a:pPr>
            <a:endParaRPr sz="1600" dirty="0"/>
          </a:p>
          <a:p>
            <a:pPr marL="457200" lvl="0" indent="0" algn="l" rtl="0">
              <a:spcBef>
                <a:spcPts val="1600"/>
              </a:spcBef>
              <a:spcAft>
                <a:spcPts val="1600"/>
              </a:spcAft>
              <a:buNone/>
            </a:pPr>
            <a:endParaRPr dirty="0"/>
          </a:p>
        </p:txBody>
      </p:sp>
      <p:grpSp>
        <p:nvGrpSpPr>
          <p:cNvPr id="6" name="Group 5">
            <a:extLst>
              <a:ext uri="{FF2B5EF4-FFF2-40B4-BE49-F238E27FC236}">
                <a16:creationId xmlns:a16="http://schemas.microsoft.com/office/drawing/2014/main" id="{2A826305-D075-B62F-23F1-0FB29CBFC650}"/>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83ED6CD4-C171-9E54-2572-10ED30BC94DC}"/>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536A89E5-2F4A-4433-4133-F18965ED3252}"/>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E5C010-9E85-BBAD-A6E9-EA6C41033FD1}"/>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1" name="Google Shape;90;p16">
            <a:extLst>
              <a:ext uri="{FF2B5EF4-FFF2-40B4-BE49-F238E27FC236}">
                <a16:creationId xmlns:a16="http://schemas.microsoft.com/office/drawing/2014/main" id="{46B589A3-525B-DF7D-2B17-0D75FF477A4D}"/>
              </a:ext>
            </a:extLst>
          </p:cNvPr>
          <p:cNvSpPr txBox="1">
            <a:spLocks/>
          </p:cNvSpPr>
          <p:nvPr/>
        </p:nvSpPr>
        <p:spPr>
          <a:xfrm>
            <a:off x="1514814" y="1951884"/>
            <a:ext cx="3454135" cy="7275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3600" b="1" dirty="0">
                <a:solidFill>
                  <a:srgbClr val="70060E"/>
                </a:solidFill>
              </a:rPr>
              <a:t>Every Company</a:t>
            </a:r>
          </a:p>
          <a:p>
            <a:pPr indent="0">
              <a:spcBef>
                <a:spcPts val="1600"/>
              </a:spcBef>
              <a:buFont typeface="Roboto"/>
              <a:buNone/>
            </a:pPr>
            <a:endParaRPr lang="en-US" sz="3600" dirty="0"/>
          </a:p>
          <a:p>
            <a:pPr indent="0">
              <a:spcBef>
                <a:spcPts val="1600"/>
              </a:spcBef>
              <a:spcAft>
                <a:spcPts val="1600"/>
              </a:spcAft>
              <a:buFont typeface="Roboto"/>
              <a:buNone/>
            </a:pPr>
            <a:endParaRPr lang="en-US" sz="3600" dirty="0"/>
          </a:p>
        </p:txBody>
      </p:sp>
      <p:sp>
        <p:nvSpPr>
          <p:cNvPr id="12" name="Google Shape;90;p16">
            <a:extLst>
              <a:ext uri="{FF2B5EF4-FFF2-40B4-BE49-F238E27FC236}">
                <a16:creationId xmlns:a16="http://schemas.microsoft.com/office/drawing/2014/main" id="{0C4A17A6-3055-D621-553B-4718CBB81233}"/>
              </a:ext>
            </a:extLst>
          </p:cNvPr>
          <p:cNvSpPr txBox="1">
            <a:spLocks/>
          </p:cNvSpPr>
          <p:nvPr/>
        </p:nvSpPr>
        <p:spPr>
          <a:xfrm>
            <a:off x="1936572" y="2632408"/>
            <a:ext cx="5756409" cy="7275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3600" b="1" dirty="0">
                <a:solidFill>
                  <a:srgbClr val="70060E"/>
                </a:solidFill>
              </a:rPr>
              <a:t>is a Technology Company</a:t>
            </a:r>
          </a:p>
          <a:p>
            <a:pPr indent="0">
              <a:spcBef>
                <a:spcPts val="1600"/>
              </a:spcBef>
              <a:buFont typeface="Roboto"/>
              <a:buNone/>
            </a:pPr>
            <a:endParaRPr lang="en-US" sz="3600" dirty="0"/>
          </a:p>
          <a:p>
            <a:pPr indent="0">
              <a:spcBef>
                <a:spcPts val="1600"/>
              </a:spcBef>
              <a:spcAft>
                <a:spcPts val="1600"/>
              </a:spcAft>
              <a:buFont typeface="Roboto"/>
              <a:buNone/>
            </a:pP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34C9EB1-5E6C-30BC-1AAA-AED3663A5966}"/>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DF663154-1104-3F95-AB71-C68367A33D36}"/>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can that be?</a:t>
            </a:r>
            <a:endParaRPr b="1" dirty="0"/>
          </a:p>
        </p:txBody>
      </p:sp>
      <p:grpSp>
        <p:nvGrpSpPr>
          <p:cNvPr id="6" name="Group 5">
            <a:extLst>
              <a:ext uri="{FF2B5EF4-FFF2-40B4-BE49-F238E27FC236}">
                <a16:creationId xmlns:a16="http://schemas.microsoft.com/office/drawing/2014/main" id="{1FEE08DA-50AC-5288-CCC3-D2D4F6DB598C}"/>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B222D964-04D6-C041-F8CC-E3D5B8763262}"/>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FB74545D-301B-00DB-2D50-62801B134819}"/>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71CBE1-9364-40EC-03BA-60ED9434F4EB}"/>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3" name="Google Shape;90;p16">
            <a:extLst>
              <a:ext uri="{FF2B5EF4-FFF2-40B4-BE49-F238E27FC236}">
                <a16:creationId xmlns:a16="http://schemas.microsoft.com/office/drawing/2014/main" id="{1EF802AE-8189-2986-B901-3C6850844AD6}"/>
              </a:ext>
            </a:extLst>
          </p:cNvPr>
          <p:cNvSpPr txBox="1">
            <a:spLocks/>
          </p:cNvSpPr>
          <p:nvPr/>
        </p:nvSpPr>
        <p:spPr>
          <a:xfrm>
            <a:off x="235363" y="1315933"/>
            <a:ext cx="2309363"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800" b="1" dirty="0">
                <a:solidFill>
                  <a:srgbClr val="000000"/>
                </a:solidFill>
              </a:rPr>
              <a:t>What about:</a:t>
            </a:r>
            <a:endParaRPr lang="en-US" dirty="0"/>
          </a:p>
        </p:txBody>
      </p:sp>
      <p:grpSp>
        <p:nvGrpSpPr>
          <p:cNvPr id="12" name="Group 11">
            <a:extLst>
              <a:ext uri="{FF2B5EF4-FFF2-40B4-BE49-F238E27FC236}">
                <a16:creationId xmlns:a16="http://schemas.microsoft.com/office/drawing/2014/main" id="{0824570F-9F80-2C0F-5BE7-212A2BE34F54}"/>
              </a:ext>
            </a:extLst>
          </p:cNvPr>
          <p:cNvGrpSpPr/>
          <p:nvPr/>
        </p:nvGrpSpPr>
        <p:grpSpPr>
          <a:xfrm>
            <a:off x="487547" y="2421391"/>
            <a:ext cx="8317466" cy="846021"/>
            <a:chOff x="720208" y="1813151"/>
            <a:chExt cx="8317466" cy="846021"/>
          </a:xfrm>
        </p:grpSpPr>
        <p:sp>
          <p:nvSpPr>
            <p:cNvPr id="2" name="Google Shape;90;p16">
              <a:extLst>
                <a:ext uri="{FF2B5EF4-FFF2-40B4-BE49-F238E27FC236}">
                  <a16:creationId xmlns:a16="http://schemas.microsoft.com/office/drawing/2014/main" id="{0E9381E0-9101-E6AC-A357-C81A74FA47F0}"/>
                </a:ext>
              </a:extLst>
            </p:cNvPr>
            <p:cNvSpPr txBox="1">
              <a:spLocks/>
            </p:cNvSpPr>
            <p:nvPr/>
          </p:nvSpPr>
          <p:spPr>
            <a:xfrm>
              <a:off x="72020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A Bank</a:t>
              </a:r>
              <a:endParaRPr lang="en-US" dirty="0"/>
            </a:p>
          </p:txBody>
        </p:sp>
        <p:sp>
          <p:nvSpPr>
            <p:cNvPr id="5" name="Google Shape;90;p16">
              <a:extLst>
                <a:ext uri="{FF2B5EF4-FFF2-40B4-BE49-F238E27FC236}">
                  <a16:creationId xmlns:a16="http://schemas.microsoft.com/office/drawing/2014/main" id="{37E65D28-2BFD-3DE1-5E2E-3C3DE0224E3C}"/>
                </a:ext>
              </a:extLst>
            </p:cNvPr>
            <p:cNvSpPr txBox="1">
              <a:spLocks/>
            </p:cNvSpPr>
            <p:nvPr/>
          </p:nvSpPr>
          <p:spPr>
            <a:xfrm>
              <a:off x="492573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rgbClr val="70060E"/>
                  </a:solidFill>
                  <a:hlinkClick r:id="rId4">
                    <a:extLst>
                      <a:ext uri="{A12FA001-AC4F-418D-AE19-62706E023703}">
                        <ahyp:hlinkClr xmlns:ahyp="http://schemas.microsoft.com/office/drawing/2018/hyperlinkcolor" val="tx"/>
                      </a:ext>
                    </a:extLst>
                  </a:hlinkClick>
                </a:rPr>
                <a:t>Software Company </a:t>
              </a:r>
              <a:r>
                <a:rPr lang="en-US" sz="2800" b="1" dirty="0">
                  <a:solidFill>
                    <a:srgbClr val="000000"/>
                  </a:solidFill>
                </a:rPr>
                <a:t>with a banking license</a:t>
              </a:r>
              <a:endParaRPr lang="en-US" dirty="0"/>
            </a:p>
          </p:txBody>
        </p:sp>
        <p:cxnSp>
          <p:nvCxnSpPr>
            <p:cNvPr id="11" name="Straight Arrow Connector 10">
              <a:extLst>
                <a:ext uri="{FF2B5EF4-FFF2-40B4-BE49-F238E27FC236}">
                  <a16:creationId xmlns:a16="http://schemas.microsoft.com/office/drawing/2014/main" id="{A4F96AC2-F15D-535E-E790-BABCB0A8D505}"/>
                </a:ext>
              </a:extLst>
            </p:cNvPr>
            <p:cNvCxnSpPr/>
            <p:nvPr/>
          </p:nvCxnSpPr>
          <p:spPr>
            <a:xfrm>
              <a:off x="4413931"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pic>
        <p:nvPicPr>
          <p:cNvPr id="3074" name="Picture 2" descr="Chase Logo and symbol, meaning, history, PNG, brand">
            <a:extLst>
              <a:ext uri="{FF2B5EF4-FFF2-40B4-BE49-F238E27FC236}">
                <a16:creationId xmlns:a16="http://schemas.microsoft.com/office/drawing/2014/main" id="{35B231F8-D51F-D7EA-2752-B2DCF68906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59" y="1939519"/>
            <a:ext cx="3217364" cy="1809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22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2C57C1A-0DD4-FAF5-6CEB-42DB05EC225B}"/>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BC57271E-E7D4-D028-1C9C-3A7C68FAC4E0}"/>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can that be?</a:t>
            </a:r>
            <a:endParaRPr b="1" dirty="0"/>
          </a:p>
        </p:txBody>
      </p:sp>
      <p:grpSp>
        <p:nvGrpSpPr>
          <p:cNvPr id="6" name="Group 5">
            <a:extLst>
              <a:ext uri="{FF2B5EF4-FFF2-40B4-BE49-F238E27FC236}">
                <a16:creationId xmlns:a16="http://schemas.microsoft.com/office/drawing/2014/main" id="{8689BC28-0951-A2A7-921D-A9D7158B0853}"/>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18046AA0-C4C1-D06C-4B91-8D110CFB9722}"/>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F0F0BDCA-0BD1-8DCB-1C05-8F829DC662D7}"/>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6EC4C4E-61A5-81FF-6635-C31D2AD0B97F}"/>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3" name="Google Shape;90;p16">
            <a:extLst>
              <a:ext uri="{FF2B5EF4-FFF2-40B4-BE49-F238E27FC236}">
                <a16:creationId xmlns:a16="http://schemas.microsoft.com/office/drawing/2014/main" id="{4EB762D3-85A7-197E-8F93-76143C617857}"/>
              </a:ext>
            </a:extLst>
          </p:cNvPr>
          <p:cNvSpPr txBox="1">
            <a:spLocks/>
          </p:cNvSpPr>
          <p:nvPr/>
        </p:nvSpPr>
        <p:spPr>
          <a:xfrm>
            <a:off x="235363" y="1315933"/>
            <a:ext cx="2309363"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800" b="1" dirty="0">
                <a:solidFill>
                  <a:srgbClr val="000000"/>
                </a:solidFill>
              </a:rPr>
              <a:t>What about:</a:t>
            </a:r>
            <a:endParaRPr lang="en-US" dirty="0"/>
          </a:p>
        </p:txBody>
      </p:sp>
      <p:grpSp>
        <p:nvGrpSpPr>
          <p:cNvPr id="12" name="Group 11">
            <a:extLst>
              <a:ext uri="{FF2B5EF4-FFF2-40B4-BE49-F238E27FC236}">
                <a16:creationId xmlns:a16="http://schemas.microsoft.com/office/drawing/2014/main" id="{573E82C6-2690-3C74-6AB3-955032DD5E0C}"/>
              </a:ext>
            </a:extLst>
          </p:cNvPr>
          <p:cNvGrpSpPr/>
          <p:nvPr/>
        </p:nvGrpSpPr>
        <p:grpSpPr>
          <a:xfrm>
            <a:off x="4181270" y="2421391"/>
            <a:ext cx="4623743" cy="846021"/>
            <a:chOff x="4413931" y="1813151"/>
            <a:chExt cx="4623743" cy="846021"/>
          </a:xfrm>
        </p:grpSpPr>
        <p:sp>
          <p:nvSpPr>
            <p:cNvPr id="5" name="Google Shape;90;p16">
              <a:extLst>
                <a:ext uri="{FF2B5EF4-FFF2-40B4-BE49-F238E27FC236}">
                  <a16:creationId xmlns:a16="http://schemas.microsoft.com/office/drawing/2014/main" id="{33C4EE66-1D08-EA91-E42A-137628902A44}"/>
                </a:ext>
              </a:extLst>
            </p:cNvPr>
            <p:cNvSpPr txBox="1">
              <a:spLocks/>
            </p:cNvSpPr>
            <p:nvPr/>
          </p:nvSpPr>
          <p:spPr>
            <a:xfrm>
              <a:off x="492573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rgbClr val="70060E"/>
                  </a:solidFill>
                  <a:hlinkClick r:id="rId4">
                    <a:extLst>
                      <a:ext uri="{A12FA001-AC4F-418D-AE19-62706E023703}">
                        <ahyp:hlinkClr xmlns:ahyp="http://schemas.microsoft.com/office/drawing/2018/hyperlinkcolor" val="tx"/>
                      </a:ext>
                    </a:extLst>
                  </a:hlinkClick>
                </a:rPr>
                <a:t>Software Company</a:t>
              </a:r>
              <a:r>
                <a:rPr lang="en-US" sz="2800" b="1" dirty="0">
                  <a:solidFill>
                    <a:srgbClr val="70060E"/>
                  </a:solidFill>
                </a:rPr>
                <a:t> </a:t>
              </a:r>
              <a:r>
                <a:rPr lang="en-US" sz="2800" b="1" dirty="0">
                  <a:solidFill>
                    <a:srgbClr val="000000"/>
                  </a:solidFill>
                </a:rPr>
                <a:t>that also makes pizza</a:t>
              </a:r>
              <a:endParaRPr lang="en-US" dirty="0"/>
            </a:p>
          </p:txBody>
        </p:sp>
        <p:cxnSp>
          <p:nvCxnSpPr>
            <p:cNvPr id="11" name="Straight Arrow Connector 10">
              <a:extLst>
                <a:ext uri="{FF2B5EF4-FFF2-40B4-BE49-F238E27FC236}">
                  <a16:creationId xmlns:a16="http://schemas.microsoft.com/office/drawing/2014/main" id="{8D326A47-83B9-E973-26AC-323E4D454253}"/>
                </a:ext>
              </a:extLst>
            </p:cNvPr>
            <p:cNvCxnSpPr/>
            <p:nvPr/>
          </p:nvCxnSpPr>
          <p:spPr>
            <a:xfrm>
              <a:off x="4413931"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pic>
        <p:nvPicPr>
          <p:cNvPr id="4098" name="Picture 2" descr="History Of The Domino's Logo Design — What Does It Mean ...">
            <a:extLst>
              <a:ext uri="{FF2B5EF4-FFF2-40B4-BE49-F238E27FC236}">
                <a16:creationId xmlns:a16="http://schemas.microsoft.com/office/drawing/2014/main" id="{12F70AEC-E356-692B-6F9A-5FB8DB8B4E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5907" y="1799175"/>
            <a:ext cx="3232298" cy="1939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6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2A0F99A-D4B1-8563-A1E3-7687EE7D1435}"/>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7063CBC3-AE83-3D97-ECE3-B1EE8B83A208}"/>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can that be?</a:t>
            </a:r>
            <a:endParaRPr b="1" dirty="0"/>
          </a:p>
        </p:txBody>
      </p:sp>
      <p:grpSp>
        <p:nvGrpSpPr>
          <p:cNvPr id="6" name="Group 5">
            <a:extLst>
              <a:ext uri="{FF2B5EF4-FFF2-40B4-BE49-F238E27FC236}">
                <a16:creationId xmlns:a16="http://schemas.microsoft.com/office/drawing/2014/main" id="{EA635B56-6A8C-803B-7B1D-1835DCA6B318}"/>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C7E285F8-5275-6B00-15B7-A56306DEC120}"/>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8C9B1AB9-8979-BE4C-B949-4D1A55095CE2}"/>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CA59314-5838-D2F7-9050-4D71D274B397}"/>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3" name="Google Shape;90;p16">
            <a:extLst>
              <a:ext uri="{FF2B5EF4-FFF2-40B4-BE49-F238E27FC236}">
                <a16:creationId xmlns:a16="http://schemas.microsoft.com/office/drawing/2014/main" id="{08906496-3848-421F-1ADE-18647C5F021F}"/>
              </a:ext>
            </a:extLst>
          </p:cNvPr>
          <p:cNvSpPr txBox="1">
            <a:spLocks/>
          </p:cNvSpPr>
          <p:nvPr/>
        </p:nvSpPr>
        <p:spPr>
          <a:xfrm>
            <a:off x="235363" y="1315933"/>
            <a:ext cx="2309363"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800" b="1" dirty="0">
                <a:solidFill>
                  <a:srgbClr val="000000"/>
                </a:solidFill>
              </a:rPr>
              <a:t>What about:</a:t>
            </a:r>
            <a:endParaRPr lang="en-US" dirty="0"/>
          </a:p>
        </p:txBody>
      </p:sp>
      <p:grpSp>
        <p:nvGrpSpPr>
          <p:cNvPr id="12" name="Group 11">
            <a:extLst>
              <a:ext uri="{FF2B5EF4-FFF2-40B4-BE49-F238E27FC236}">
                <a16:creationId xmlns:a16="http://schemas.microsoft.com/office/drawing/2014/main" id="{F8BAA578-0EED-EF6C-3D8D-7D3334EDD29A}"/>
              </a:ext>
            </a:extLst>
          </p:cNvPr>
          <p:cNvGrpSpPr/>
          <p:nvPr/>
        </p:nvGrpSpPr>
        <p:grpSpPr>
          <a:xfrm>
            <a:off x="4181270" y="2421391"/>
            <a:ext cx="4623743" cy="846021"/>
            <a:chOff x="4413931" y="1813151"/>
            <a:chExt cx="4623743" cy="846021"/>
          </a:xfrm>
        </p:grpSpPr>
        <p:sp>
          <p:nvSpPr>
            <p:cNvPr id="5" name="Google Shape;90;p16">
              <a:extLst>
                <a:ext uri="{FF2B5EF4-FFF2-40B4-BE49-F238E27FC236}">
                  <a16:creationId xmlns:a16="http://schemas.microsoft.com/office/drawing/2014/main" id="{3AFABB60-357D-C758-58A7-2A121B7A16F9}"/>
                </a:ext>
              </a:extLst>
            </p:cNvPr>
            <p:cNvSpPr txBox="1">
              <a:spLocks/>
            </p:cNvSpPr>
            <p:nvPr/>
          </p:nvSpPr>
          <p:spPr>
            <a:xfrm>
              <a:off x="492573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rgbClr val="70060E"/>
                  </a:solidFill>
                  <a:hlinkClick r:id="rId4">
                    <a:extLst>
                      <a:ext uri="{A12FA001-AC4F-418D-AE19-62706E023703}">
                        <ahyp:hlinkClr xmlns:ahyp="http://schemas.microsoft.com/office/drawing/2018/hyperlinkcolor" val="tx"/>
                      </a:ext>
                    </a:extLst>
                  </a:hlinkClick>
                </a:rPr>
                <a:t>Software Company </a:t>
              </a:r>
              <a:r>
                <a:rPr lang="en-US" sz="2800" b="1" dirty="0">
                  <a:solidFill>
                    <a:srgbClr val="000000"/>
                  </a:solidFill>
                </a:rPr>
                <a:t>that also sells tractors</a:t>
              </a:r>
              <a:endParaRPr lang="en-US" dirty="0"/>
            </a:p>
          </p:txBody>
        </p:sp>
        <p:cxnSp>
          <p:nvCxnSpPr>
            <p:cNvPr id="11" name="Straight Arrow Connector 10">
              <a:extLst>
                <a:ext uri="{FF2B5EF4-FFF2-40B4-BE49-F238E27FC236}">
                  <a16:creationId xmlns:a16="http://schemas.microsoft.com/office/drawing/2014/main" id="{F9102BDF-ED6A-7A4D-AEBE-545825877B8E}"/>
                </a:ext>
              </a:extLst>
            </p:cNvPr>
            <p:cNvCxnSpPr/>
            <p:nvPr/>
          </p:nvCxnSpPr>
          <p:spPr>
            <a:xfrm>
              <a:off x="4413931"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pic>
        <p:nvPicPr>
          <p:cNvPr id="5126" name="Picture 6" descr="2000">
            <a:extLst>
              <a:ext uri="{FF2B5EF4-FFF2-40B4-BE49-F238E27FC236}">
                <a16:creationId xmlns:a16="http://schemas.microsoft.com/office/drawing/2014/main" id="{0899E294-AF51-5C42-2D09-E861DFD53D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315" y="1933313"/>
            <a:ext cx="2819399" cy="2114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39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A8A39D4-B3A3-2AE3-D3E3-E2EFE9CA0958}"/>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0C99F78A-88F1-DB38-A62C-0C47437B3BE4}"/>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How can that be?</a:t>
            </a:r>
            <a:endParaRPr b="1" dirty="0"/>
          </a:p>
        </p:txBody>
      </p:sp>
      <p:grpSp>
        <p:nvGrpSpPr>
          <p:cNvPr id="6" name="Group 5">
            <a:extLst>
              <a:ext uri="{FF2B5EF4-FFF2-40B4-BE49-F238E27FC236}">
                <a16:creationId xmlns:a16="http://schemas.microsoft.com/office/drawing/2014/main" id="{616C95A7-4414-C3BE-8F3D-C19A5CA5D94B}"/>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9CD35E97-3D07-7F9F-FF4B-34511C369E3F}"/>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789C0426-3152-A8A3-0904-FE5BC41FA600}"/>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F4DF96C-4BB6-A3E4-B26A-3BB786AB025F}"/>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3" name="Google Shape;90;p16">
            <a:extLst>
              <a:ext uri="{FF2B5EF4-FFF2-40B4-BE49-F238E27FC236}">
                <a16:creationId xmlns:a16="http://schemas.microsoft.com/office/drawing/2014/main" id="{99B73FBF-5DE2-E722-B46C-98ABC2BA8089}"/>
              </a:ext>
            </a:extLst>
          </p:cNvPr>
          <p:cNvSpPr txBox="1">
            <a:spLocks/>
          </p:cNvSpPr>
          <p:nvPr/>
        </p:nvSpPr>
        <p:spPr>
          <a:xfrm>
            <a:off x="235363" y="1315933"/>
            <a:ext cx="2309363"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Font typeface="Roboto"/>
              <a:buNone/>
            </a:pPr>
            <a:r>
              <a:rPr lang="en-US" sz="2800" b="1" dirty="0">
                <a:solidFill>
                  <a:srgbClr val="000000"/>
                </a:solidFill>
              </a:rPr>
              <a:t>What about:</a:t>
            </a:r>
            <a:endParaRPr lang="en-US" dirty="0"/>
          </a:p>
        </p:txBody>
      </p:sp>
      <p:grpSp>
        <p:nvGrpSpPr>
          <p:cNvPr id="12" name="Group 11">
            <a:extLst>
              <a:ext uri="{FF2B5EF4-FFF2-40B4-BE49-F238E27FC236}">
                <a16:creationId xmlns:a16="http://schemas.microsoft.com/office/drawing/2014/main" id="{BC74940B-3A53-033A-867D-820524D85E82}"/>
              </a:ext>
            </a:extLst>
          </p:cNvPr>
          <p:cNvGrpSpPr/>
          <p:nvPr/>
        </p:nvGrpSpPr>
        <p:grpSpPr>
          <a:xfrm>
            <a:off x="4181270" y="2421391"/>
            <a:ext cx="4623743" cy="846021"/>
            <a:chOff x="4413931" y="1813151"/>
            <a:chExt cx="4623743" cy="846021"/>
          </a:xfrm>
        </p:grpSpPr>
        <p:sp>
          <p:nvSpPr>
            <p:cNvPr id="5" name="Google Shape;90;p16">
              <a:extLst>
                <a:ext uri="{FF2B5EF4-FFF2-40B4-BE49-F238E27FC236}">
                  <a16:creationId xmlns:a16="http://schemas.microsoft.com/office/drawing/2014/main" id="{5B63520C-7CF5-8138-D615-F235A5E19CEE}"/>
                </a:ext>
              </a:extLst>
            </p:cNvPr>
            <p:cNvSpPr txBox="1">
              <a:spLocks/>
            </p:cNvSpPr>
            <p:nvPr/>
          </p:nvSpPr>
          <p:spPr>
            <a:xfrm>
              <a:off x="492573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rgbClr val="70060E"/>
                  </a:solidFill>
                  <a:hlinkClick r:id="rId4">
                    <a:extLst>
                      <a:ext uri="{A12FA001-AC4F-418D-AE19-62706E023703}">
                        <ahyp:hlinkClr xmlns:ahyp="http://schemas.microsoft.com/office/drawing/2018/hyperlinkcolor" val="tx"/>
                      </a:ext>
                    </a:extLst>
                  </a:hlinkClick>
                </a:rPr>
                <a:t>Software Company </a:t>
              </a:r>
              <a:r>
                <a:rPr lang="en-US" sz="2800" b="1" dirty="0">
                  <a:solidFill>
                    <a:srgbClr val="000000"/>
                  </a:solidFill>
                </a:rPr>
                <a:t>with a lot of brown trucks</a:t>
              </a:r>
              <a:endParaRPr lang="en-US" dirty="0"/>
            </a:p>
          </p:txBody>
        </p:sp>
        <p:cxnSp>
          <p:nvCxnSpPr>
            <p:cNvPr id="11" name="Straight Arrow Connector 10">
              <a:extLst>
                <a:ext uri="{FF2B5EF4-FFF2-40B4-BE49-F238E27FC236}">
                  <a16:creationId xmlns:a16="http://schemas.microsoft.com/office/drawing/2014/main" id="{56A97F0E-DC45-C1CA-F9BB-0D25ADD88283}"/>
                </a:ext>
              </a:extLst>
            </p:cNvPr>
            <p:cNvCxnSpPr/>
            <p:nvPr/>
          </p:nvCxnSpPr>
          <p:spPr>
            <a:xfrm>
              <a:off x="4413931"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pic>
        <p:nvPicPr>
          <p:cNvPr id="6146" name="Picture 2" descr="UPS Logo, symbol, meaning, history, PNG, brand">
            <a:extLst>
              <a:ext uri="{FF2B5EF4-FFF2-40B4-BE49-F238E27FC236}">
                <a16:creationId xmlns:a16="http://schemas.microsoft.com/office/drawing/2014/main" id="{8741AC99-30BD-300E-9ADC-A205452345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210" y="2134623"/>
            <a:ext cx="3232298" cy="1818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54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E5E06DB-05A1-4A7E-2A8F-FA91BD701861}"/>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7B0EBB82-BFA0-FFDB-D6CF-5973C2A29C29}"/>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Cost of Tech-Phobia</a:t>
            </a:r>
            <a:endParaRPr b="1" dirty="0"/>
          </a:p>
        </p:txBody>
      </p:sp>
      <p:grpSp>
        <p:nvGrpSpPr>
          <p:cNvPr id="6" name="Group 5">
            <a:extLst>
              <a:ext uri="{FF2B5EF4-FFF2-40B4-BE49-F238E27FC236}">
                <a16:creationId xmlns:a16="http://schemas.microsoft.com/office/drawing/2014/main" id="{14D85A84-6803-CAE4-9954-70F8EA6C02EE}"/>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60A1BE4F-C422-6912-F75A-320A9BF39FC6}"/>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022A3C62-2B95-C943-8D18-8E8108063BF5}"/>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697E31-2980-F38B-579C-4A28F3D99B84}"/>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grpSp>
        <p:nvGrpSpPr>
          <p:cNvPr id="12" name="Group 11">
            <a:extLst>
              <a:ext uri="{FF2B5EF4-FFF2-40B4-BE49-F238E27FC236}">
                <a16:creationId xmlns:a16="http://schemas.microsoft.com/office/drawing/2014/main" id="{CB10AB1B-95F6-145C-111F-795742F7B84E}"/>
              </a:ext>
            </a:extLst>
          </p:cNvPr>
          <p:cNvGrpSpPr/>
          <p:nvPr/>
        </p:nvGrpSpPr>
        <p:grpSpPr>
          <a:xfrm>
            <a:off x="625908" y="1441389"/>
            <a:ext cx="8518092" cy="850039"/>
            <a:chOff x="720208" y="1813151"/>
            <a:chExt cx="8518092" cy="850039"/>
          </a:xfrm>
        </p:grpSpPr>
        <p:sp>
          <p:nvSpPr>
            <p:cNvPr id="2" name="Google Shape;90;p16">
              <a:extLst>
                <a:ext uri="{FF2B5EF4-FFF2-40B4-BE49-F238E27FC236}">
                  <a16:creationId xmlns:a16="http://schemas.microsoft.com/office/drawing/2014/main" id="{2F1D29C6-958E-C488-70D2-69E4C6BF0DF5}"/>
                </a:ext>
              </a:extLst>
            </p:cNvPr>
            <p:cNvSpPr txBox="1">
              <a:spLocks/>
            </p:cNvSpPr>
            <p:nvPr/>
          </p:nvSpPr>
          <p:spPr>
            <a:xfrm>
              <a:off x="72020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Too </a:t>
              </a:r>
              <a:r>
                <a:rPr lang="en-US" sz="2800" b="1" dirty="0">
                  <a:solidFill>
                    <a:srgbClr val="70060E"/>
                  </a:solidFill>
                </a:rPr>
                <a:t>Slow</a:t>
              </a:r>
              <a:endParaRPr lang="en-US" dirty="0">
                <a:solidFill>
                  <a:srgbClr val="70060E"/>
                </a:solidFill>
              </a:endParaRPr>
            </a:p>
          </p:txBody>
        </p:sp>
        <p:sp>
          <p:nvSpPr>
            <p:cNvPr id="5" name="Google Shape;90;p16">
              <a:extLst>
                <a:ext uri="{FF2B5EF4-FFF2-40B4-BE49-F238E27FC236}">
                  <a16:creationId xmlns:a16="http://schemas.microsoft.com/office/drawing/2014/main" id="{938F48AF-EE17-0FE5-E717-23685C1B2C49}"/>
                </a:ext>
              </a:extLst>
            </p:cNvPr>
            <p:cNvSpPr txBox="1">
              <a:spLocks/>
            </p:cNvSpPr>
            <p:nvPr/>
          </p:nvSpPr>
          <p:spPr>
            <a:xfrm>
              <a:off x="4832143" y="1817169"/>
              <a:ext cx="4406157"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Competitors </a:t>
              </a:r>
            </a:p>
            <a:p>
              <a:pPr indent="-457200"/>
              <a:r>
                <a:rPr lang="en-US" sz="2800" dirty="0">
                  <a:solidFill>
                    <a:schemeClr val="accent3">
                      <a:lumMod val="10000"/>
                    </a:schemeClr>
                  </a:solidFill>
                </a:rPr>
                <a:t>Quote faster</a:t>
              </a:r>
            </a:p>
            <a:p>
              <a:pPr indent="-457200"/>
              <a:r>
                <a:rPr lang="en-US" sz="2800" dirty="0">
                  <a:solidFill>
                    <a:schemeClr val="accent3">
                      <a:lumMod val="10000"/>
                    </a:schemeClr>
                  </a:solidFill>
                </a:rPr>
                <a:t>Onboard faster </a:t>
              </a:r>
            </a:p>
            <a:p>
              <a:pPr indent="-457200"/>
              <a:r>
                <a:rPr lang="en-US" sz="2800" dirty="0">
                  <a:solidFill>
                    <a:schemeClr val="accent3">
                      <a:lumMod val="10000"/>
                    </a:schemeClr>
                  </a:solidFill>
                </a:rPr>
                <a:t>Integrate faster</a:t>
              </a:r>
            </a:p>
            <a:p>
              <a:pPr indent="-457200"/>
              <a:r>
                <a:rPr lang="en-US" sz="2800" dirty="0">
                  <a:solidFill>
                    <a:schemeClr val="accent3">
                      <a:lumMod val="10000"/>
                    </a:schemeClr>
                  </a:solidFill>
                </a:rPr>
                <a:t>Solve problems faster</a:t>
              </a:r>
            </a:p>
          </p:txBody>
        </p:sp>
        <p:cxnSp>
          <p:nvCxnSpPr>
            <p:cNvPr id="11" name="Straight Arrow Connector 10">
              <a:extLst>
                <a:ext uri="{FF2B5EF4-FFF2-40B4-BE49-F238E27FC236}">
                  <a16:creationId xmlns:a16="http://schemas.microsoft.com/office/drawing/2014/main" id="{32D17A5B-CD52-BC18-1A7B-F037A48B3DF9}"/>
                </a:ext>
              </a:extLst>
            </p:cNvPr>
            <p:cNvCxnSpPr/>
            <p:nvPr/>
          </p:nvCxnSpPr>
          <p:spPr>
            <a:xfrm>
              <a:off x="4376412"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551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03F896E-ECFB-36E8-6C5B-61B52DADE85A}"/>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69DBF142-E5DC-2E43-18D8-4A79C79925D0}"/>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Cost of Tech-Phobia</a:t>
            </a:r>
            <a:endParaRPr b="1" dirty="0"/>
          </a:p>
        </p:txBody>
      </p:sp>
      <p:grpSp>
        <p:nvGrpSpPr>
          <p:cNvPr id="6" name="Group 5">
            <a:extLst>
              <a:ext uri="{FF2B5EF4-FFF2-40B4-BE49-F238E27FC236}">
                <a16:creationId xmlns:a16="http://schemas.microsoft.com/office/drawing/2014/main" id="{D1806C34-9B89-E531-B1A6-04E3DD68CDAC}"/>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2C69175D-6EC5-FDC4-475D-15FB92144BF6}"/>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AD2BB153-6F29-EAC7-D7D3-6148C315F7B3}"/>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4AC0DB7-4393-A6C0-D65C-ED6B0C28F378}"/>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grpSp>
        <p:nvGrpSpPr>
          <p:cNvPr id="12" name="Group 11">
            <a:extLst>
              <a:ext uri="{FF2B5EF4-FFF2-40B4-BE49-F238E27FC236}">
                <a16:creationId xmlns:a16="http://schemas.microsoft.com/office/drawing/2014/main" id="{CEC29A30-BC84-DB58-84B5-D7636D93F47B}"/>
              </a:ext>
            </a:extLst>
          </p:cNvPr>
          <p:cNvGrpSpPr/>
          <p:nvPr/>
        </p:nvGrpSpPr>
        <p:grpSpPr>
          <a:xfrm>
            <a:off x="625908" y="1441389"/>
            <a:ext cx="8518092" cy="850039"/>
            <a:chOff x="720208" y="1813151"/>
            <a:chExt cx="8518092" cy="850039"/>
          </a:xfrm>
        </p:grpSpPr>
        <p:sp>
          <p:nvSpPr>
            <p:cNvPr id="2" name="Google Shape;90;p16">
              <a:extLst>
                <a:ext uri="{FF2B5EF4-FFF2-40B4-BE49-F238E27FC236}">
                  <a16:creationId xmlns:a16="http://schemas.microsoft.com/office/drawing/2014/main" id="{A3C91C92-BE76-AC38-DFDA-A2F9E836087B}"/>
                </a:ext>
              </a:extLst>
            </p:cNvPr>
            <p:cNvSpPr txBox="1">
              <a:spLocks/>
            </p:cNvSpPr>
            <p:nvPr/>
          </p:nvSpPr>
          <p:spPr>
            <a:xfrm>
              <a:off x="72020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Too </a:t>
              </a:r>
              <a:r>
                <a:rPr lang="en-US" sz="2800" b="1" dirty="0">
                  <a:solidFill>
                    <a:srgbClr val="70060E"/>
                  </a:solidFill>
                </a:rPr>
                <a:t>Expensive</a:t>
              </a:r>
              <a:endParaRPr lang="en-US" sz="2800" dirty="0">
                <a:solidFill>
                  <a:srgbClr val="70060E"/>
                </a:solidFill>
              </a:endParaRPr>
            </a:p>
          </p:txBody>
        </p:sp>
        <p:sp>
          <p:nvSpPr>
            <p:cNvPr id="5" name="Google Shape;90;p16">
              <a:extLst>
                <a:ext uri="{FF2B5EF4-FFF2-40B4-BE49-F238E27FC236}">
                  <a16:creationId xmlns:a16="http://schemas.microsoft.com/office/drawing/2014/main" id="{20B08960-ECFC-0985-37EC-B1B680F3720E}"/>
                </a:ext>
              </a:extLst>
            </p:cNvPr>
            <p:cNvSpPr txBox="1">
              <a:spLocks/>
            </p:cNvSpPr>
            <p:nvPr/>
          </p:nvSpPr>
          <p:spPr>
            <a:xfrm>
              <a:off x="4832143" y="1817169"/>
              <a:ext cx="4406157"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The hidden tax of</a:t>
              </a:r>
            </a:p>
            <a:p>
              <a:pPr indent="-457200"/>
              <a:r>
                <a:rPr lang="en-US" sz="2800" dirty="0">
                  <a:solidFill>
                    <a:schemeClr val="accent3">
                      <a:lumMod val="10000"/>
                    </a:schemeClr>
                  </a:solidFill>
                </a:rPr>
                <a:t>Manual work</a:t>
              </a:r>
            </a:p>
            <a:p>
              <a:pPr indent="-457200"/>
              <a:r>
                <a:rPr lang="en-US" sz="2800" dirty="0">
                  <a:solidFill>
                    <a:schemeClr val="accent3">
                      <a:lumMod val="10000"/>
                    </a:schemeClr>
                  </a:solidFill>
                </a:rPr>
                <a:t>Spreadsheets </a:t>
              </a:r>
            </a:p>
            <a:p>
              <a:pPr indent="-457200"/>
              <a:r>
                <a:rPr lang="en-US" sz="2800" dirty="0">
                  <a:solidFill>
                    <a:schemeClr val="accent3">
                      <a:lumMod val="10000"/>
                    </a:schemeClr>
                  </a:solidFill>
                </a:rPr>
                <a:t>Emails </a:t>
              </a:r>
            </a:p>
            <a:p>
              <a:pPr indent="-457200"/>
              <a:r>
                <a:rPr lang="en-US" sz="2800" dirty="0">
                  <a:solidFill>
                    <a:schemeClr val="accent3">
                      <a:lumMod val="10000"/>
                    </a:schemeClr>
                  </a:solidFill>
                </a:rPr>
                <a:t>Meetings, </a:t>
              </a:r>
            </a:p>
            <a:p>
              <a:pPr indent="-457200"/>
              <a:r>
                <a:rPr lang="en-US" sz="2800" dirty="0">
                  <a:solidFill>
                    <a:schemeClr val="accent3">
                      <a:lumMod val="10000"/>
                    </a:schemeClr>
                  </a:solidFill>
                </a:rPr>
                <a:t>Tribal knowledge</a:t>
              </a:r>
            </a:p>
          </p:txBody>
        </p:sp>
        <p:cxnSp>
          <p:nvCxnSpPr>
            <p:cNvPr id="11" name="Straight Arrow Connector 10">
              <a:extLst>
                <a:ext uri="{FF2B5EF4-FFF2-40B4-BE49-F238E27FC236}">
                  <a16:creationId xmlns:a16="http://schemas.microsoft.com/office/drawing/2014/main" id="{3D753E86-A92A-3C04-BFD2-9BEF7C5C8F74}"/>
                </a:ext>
              </a:extLst>
            </p:cNvPr>
            <p:cNvCxnSpPr/>
            <p:nvPr/>
          </p:nvCxnSpPr>
          <p:spPr>
            <a:xfrm>
              <a:off x="4376412"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9205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30C5F81-E92E-F349-70E4-FFBBF3B12F1F}"/>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E5BADFA3-2C2E-BDF4-F2CB-D76A6BD201C1}"/>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Cost of Tech-Phobia</a:t>
            </a:r>
            <a:endParaRPr b="1" dirty="0"/>
          </a:p>
        </p:txBody>
      </p:sp>
      <p:grpSp>
        <p:nvGrpSpPr>
          <p:cNvPr id="6" name="Group 5">
            <a:extLst>
              <a:ext uri="{FF2B5EF4-FFF2-40B4-BE49-F238E27FC236}">
                <a16:creationId xmlns:a16="http://schemas.microsoft.com/office/drawing/2014/main" id="{517AEEE2-E844-ADBB-5D1F-52BD54015BC5}"/>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40CFFFD4-FF82-CCD1-E5FA-D663829EC794}"/>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8FC4019D-A6B9-7203-CD21-328F30765AFA}"/>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2E2B5C2-B5AE-D29D-B004-EA356636713C}"/>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grpSp>
        <p:nvGrpSpPr>
          <p:cNvPr id="12" name="Group 11">
            <a:extLst>
              <a:ext uri="{FF2B5EF4-FFF2-40B4-BE49-F238E27FC236}">
                <a16:creationId xmlns:a16="http://schemas.microsoft.com/office/drawing/2014/main" id="{D72FE90E-D1A6-53A0-E9D3-CC17A4CA4953}"/>
              </a:ext>
            </a:extLst>
          </p:cNvPr>
          <p:cNvGrpSpPr/>
          <p:nvPr/>
        </p:nvGrpSpPr>
        <p:grpSpPr>
          <a:xfrm>
            <a:off x="625908" y="1441389"/>
            <a:ext cx="8518092" cy="850039"/>
            <a:chOff x="720208" y="1813151"/>
            <a:chExt cx="8518092" cy="850039"/>
          </a:xfrm>
        </p:grpSpPr>
        <p:sp>
          <p:nvSpPr>
            <p:cNvPr id="2" name="Google Shape;90;p16">
              <a:extLst>
                <a:ext uri="{FF2B5EF4-FFF2-40B4-BE49-F238E27FC236}">
                  <a16:creationId xmlns:a16="http://schemas.microsoft.com/office/drawing/2014/main" id="{F8ED2E0F-30B3-E063-E3FA-9E03FE092BCC}"/>
                </a:ext>
              </a:extLst>
            </p:cNvPr>
            <p:cNvSpPr txBox="1">
              <a:spLocks/>
            </p:cNvSpPr>
            <p:nvPr/>
          </p:nvSpPr>
          <p:spPr>
            <a:xfrm>
              <a:off x="72020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Too </a:t>
              </a:r>
              <a:r>
                <a:rPr lang="en-US" sz="2800" b="1" dirty="0">
                  <a:solidFill>
                    <a:srgbClr val="70060E"/>
                  </a:solidFill>
                </a:rPr>
                <a:t>Hard to Work With</a:t>
              </a:r>
              <a:endParaRPr lang="en-US" sz="2800" dirty="0">
                <a:solidFill>
                  <a:srgbClr val="70060E"/>
                </a:solidFill>
              </a:endParaRPr>
            </a:p>
          </p:txBody>
        </p:sp>
        <p:sp>
          <p:nvSpPr>
            <p:cNvPr id="5" name="Google Shape;90;p16">
              <a:extLst>
                <a:ext uri="{FF2B5EF4-FFF2-40B4-BE49-F238E27FC236}">
                  <a16:creationId xmlns:a16="http://schemas.microsoft.com/office/drawing/2014/main" id="{10BB6EA0-F4A8-A8FA-E207-C2B27125E7C1}"/>
                </a:ext>
              </a:extLst>
            </p:cNvPr>
            <p:cNvSpPr txBox="1">
              <a:spLocks/>
            </p:cNvSpPr>
            <p:nvPr/>
          </p:nvSpPr>
          <p:spPr>
            <a:xfrm>
              <a:off x="4832143" y="1817169"/>
              <a:ext cx="4406157"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Customers expect </a:t>
              </a:r>
            </a:p>
            <a:p>
              <a:pPr indent="-457200"/>
              <a:r>
                <a:rPr lang="en-US" sz="2800" dirty="0">
                  <a:solidFill>
                    <a:schemeClr val="accent3">
                      <a:lumMod val="10000"/>
                    </a:schemeClr>
                  </a:solidFill>
                </a:rPr>
                <a:t>Portals</a:t>
              </a:r>
            </a:p>
            <a:p>
              <a:pPr indent="-457200"/>
              <a:r>
                <a:rPr lang="en-US" sz="2800" dirty="0">
                  <a:solidFill>
                    <a:schemeClr val="accent3">
                      <a:lumMod val="10000"/>
                    </a:schemeClr>
                  </a:solidFill>
                </a:rPr>
                <a:t>Visibility</a:t>
              </a:r>
            </a:p>
            <a:p>
              <a:pPr indent="-457200"/>
              <a:r>
                <a:rPr lang="en-US" sz="2800" dirty="0">
                  <a:solidFill>
                    <a:schemeClr val="accent3">
                      <a:lumMod val="10000"/>
                    </a:schemeClr>
                  </a:solidFill>
                </a:rPr>
                <a:t>Clean data</a:t>
              </a:r>
            </a:p>
            <a:p>
              <a:pPr indent="-457200"/>
              <a:r>
                <a:rPr lang="en-US" sz="2800" dirty="0">
                  <a:solidFill>
                    <a:schemeClr val="accent3">
                      <a:lumMod val="10000"/>
                    </a:schemeClr>
                  </a:solidFill>
                </a:rPr>
                <a:t>Integrations</a:t>
              </a:r>
            </a:p>
            <a:p>
              <a:pPr indent="-457200"/>
              <a:r>
                <a:rPr lang="en-US" sz="2800" dirty="0">
                  <a:solidFill>
                    <a:schemeClr val="accent3">
                      <a:lumMod val="10000"/>
                    </a:schemeClr>
                  </a:solidFill>
                </a:rPr>
                <a:t>Tracking, dashboards</a:t>
              </a:r>
            </a:p>
            <a:p>
              <a:pPr indent="-457200"/>
              <a:r>
                <a:rPr lang="en-US" sz="2800" dirty="0">
                  <a:solidFill>
                    <a:schemeClr val="accent3">
                      <a:lumMod val="10000"/>
                    </a:schemeClr>
                  </a:solidFill>
                </a:rPr>
                <a:t>Self-service</a:t>
              </a:r>
            </a:p>
            <a:p>
              <a:pPr indent="-457200"/>
              <a:endParaRPr lang="en-US" sz="2800" dirty="0">
                <a:solidFill>
                  <a:schemeClr val="accent3">
                    <a:lumMod val="10000"/>
                  </a:schemeClr>
                </a:solidFill>
              </a:endParaRPr>
            </a:p>
          </p:txBody>
        </p:sp>
        <p:cxnSp>
          <p:nvCxnSpPr>
            <p:cNvPr id="11" name="Straight Arrow Connector 10">
              <a:extLst>
                <a:ext uri="{FF2B5EF4-FFF2-40B4-BE49-F238E27FC236}">
                  <a16:creationId xmlns:a16="http://schemas.microsoft.com/office/drawing/2014/main" id="{112631C3-FAB0-CE6A-3348-B0C8FBBE51E5}"/>
                </a:ext>
              </a:extLst>
            </p:cNvPr>
            <p:cNvCxnSpPr/>
            <p:nvPr/>
          </p:nvCxnSpPr>
          <p:spPr>
            <a:xfrm>
              <a:off x="4376412"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426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3AEF277-3498-14BB-1636-733355B2A166}"/>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A315E422-80B3-0D1D-6C09-CF4FE1CE7FF2}"/>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Cost of Tech-Phobia</a:t>
            </a:r>
            <a:endParaRPr b="1" dirty="0"/>
          </a:p>
        </p:txBody>
      </p:sp>
      <p:grpSp>
        <p:nvGrpSpPr>
          <p:cNvPr id="6" name="Group 5">
            <a:extLst>
              <a:ext uri="{FF2B5EF4-FFF2-40B4-BE49-F238E27FC236}">
                <a16:creationId xmlns:a16="http://schemas.microsoft.com/office/drawing/2014/main" id="{D01C6CB3-C1C3-4562-D3F0-F985DC76D300}"/>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4C990CA9-71F2-F9D9-B7EB-2A21E1CB50E8}"/>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122EFB46-5500-8D41-8F93-C81984FAB371}"/>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463131D-D1C7-07F6-82FC-14630A109D11}"/>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grpSp>
        <p:nvGrpSpPr>
          <p:cNvPr id="12" name="Group 11">
            <a:extLst>
              <a:ext uri="{FF2B5EF4-FFF2-40B4-BE49-F238E27FC236}">
                <a16:creationId xmlns:a16="http://schemas.microsoft.com/office/drawing/2014/main" id="{60688065-5805-31F2-0CA8-D3C0DC13EBC1}"/>
              </a:ext>
            </a:extLst>
          </p:cNvPr>
          <p:cNvGrpSpPr/>
          <p:nvPr/>
        </p:nvGrpSpPr>
        <p:grpSpPr>
          <a:xfrm>
            <a:off x="625908" y="1441389"/>
            <a:ext cx="8518092" cy="850039"/>
            <a:chOff x="720208" y="1813151"/>
            <a:chExt cx="8518092" cy="850039"/>
          </a:xfrm>
        </p:grpSpPr>
        <p:sp>
          <p:nvSpPr>
            <p:cNvPr id="2" name="Google Shape;90;p16">
              <a:extLst>
                <a:ext uri="{FF2B5EF4-FFF2-40B4-BE49-F238E27FC236}">
                  <a16:creationId xmlns:a16="http://schemas.microsoft.com/office/drawing/2014/main" id="{62C99E27-CB1A-9A95-DB2D-3577A69B815C}"/>
                </a:ext>
              </a:extLst>
            </p:cNvPr>
            <p:cNvSpPr txBox="1">
              <a:spLocks/>
            </p:cNvSpPr>
            <p:nvPr/>
          </p:nvSpPr>
          <p:spPr>
            <a:xfrm>
              <a:off x="720208" y="181315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Unable to </a:t>
              </a:r>
              <a:r>
                <a:rPr lang="en-US" sz="2800" b="1" dirty="0">
                  <a:solidFill>
                    <a:srgbClr val="70060E"/>
                  </a:solidFill>
                </a:rPr>
                <a:t>Adapt</a:t>
              </a:r>
              <a:endParaRPr lang="en-US" sz="2800" dirty="0">
                <a:solidFill>
                  <a:srgbClr val="70060E"/>
                </a:solidFill>
              </a:endParaRPr>
            </a:p>
          </p:txBody>
        </p:sp>
        <p:sp>
          <p:nvSpPr>
            <p:cNvPr id="5" name="Google Shape;90;p16">
              <a:extLst>
                <a:ext uri="{FF2B5EF4-FFF2-40B4-BE49-F238E27FC236}">
                  <a16:creationId xmlns:a16="http://schemas.microsoft.com/office/drawing/2014/main" id="{05652F85-82D4-30A5-9A88-325E26D8FAAF}"/>
                </a:ext>
              </a:extLst>
            </p:cNvPr>
            <p:cNvSpPr txBox="1">
              <a:spLocks/>
            </p:cNvSpPr>
            <p:nvPr/>
          </p:nvSpPr>
          <p:spPr>
            <a:xfrm>
              <a:off x="4832143" y="1817169"/>
              <a:ext cx="4406157"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Your business cannot </a:t>
              </a:r>
            </a:p>
            <a:p>
              <a:pPr indent="-457200"/>
              <a:r>
                <a:rPr lang="en-US" sz="2800" dirty="0">
                  <a:solidFill>
                    <a:schemeClr val="accent3">
                      <a:lumMod val="10000"/>
                    </a:schemeClr>
                  </a:solidFill>
                </a:rPr>
                <a:t>Move when the market moves</a:t>
              </a:r>
            </a:p>
            <a:p>
              <a:pPr indent="-457200"/>
              <a:r>
                <a:rPr lang="en-US" sz="2800" dirty="0">
                  <a:solidFill>
                    <a:schemeClr val="accent3">
                      <a:lumMod val="10000"/>
                    </a:schemeClr>
                  </a:solidFill>
                </a:rPr>
                <a:t>Pivot during catastrophes</a:t>
              </a:r>
            </a:p>
            <a:p>
              <a:pPr indent="-457200"/>
              <a:endParaRPr lang="en-US" sz="2800" dirty="0">
                <a:solidFill>
                  <a:schemeClr val="accent3">
                    <a:lumMod val="10000"/>
                  </a:schemeClr>
                </a:solidFill>
              </a:endParaRPr>
            </a:p>
            <a:p>
              <a:pPr indent="-457200"/>
              <a:endParaRPr lang="en-US" sz="2800" dirty="0">
                <a:solidFill>
                  <a:schemeClr val="accent3">
                    <a:lumMod val="10000"/>
                  </a:schemeClr>
                </a:solidFill>
              </a:endParaRPr>
            </a:p>
          </p:txBody>
        </p:sp>
        <p:cxnSp>
          <p:nvCxnSpPr>
            <p:cNvPr id="11" name="Straight Arrow Connector 10">
              <a:extLst>
                <a:ext uri="{FF2B5EF4-FFF2-40B4-BE49-F238E27FC236}">
                  <a16:creationId xmlns:a16="http://schemas.microsoft.com/office/drawing/2014/main" id="{44D5CAF0-03DB-ECD8-19AA-43F9F17686CD}"/>
                </a:ext>
              </a:extLst>
            </p:cNvPr>
            <p:cNvCxnSpPr/>
            <p:nvPr/>
          </p:nvCxnSpPr>
          <p:spPr>
            <a:xfrm>
              <a:off x="4376412" y="2160625"/>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943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0FA0DE-EDDB-D765-61B6-C7BB86401C29}"/>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7DAA73D4-C45C-4088-1858-723DDA6A60CC}"/>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Today’s Discussion</a:t>
            </a:r>
            <a:endParaRPr b="1" dirty="0"/>
          </a:p>
        </p:txBody>
      </p:sp>
      <p:grpSp>
        <p:nvGrpSpPr>
          <p:cNvPr id="6" name="Group 5">
            <a:extLst>
              <a:ext uri="{FF2B5EF4-FFF2-40B4-BE49-F238E27FC236}">
                <a16:creationId xmlns:a16="http://schemas.microsoft.com/office/drawing/2014/main" id="{609F4A6E-D37B-BBEE-7A18-9339C4AAA74F}"/>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0956A907-6C32-47DE-F603-BF95347600D1}"/>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CCC1BF60-E296-5008-34C9-AA22D93BCEF2}"/>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1AB7E04-F06B-7700-09AE-51F463B18350}"/>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9" name="Google Shape;90;p16">
            <a:extLst>
              <a:ext uri="{FF2B5EF4-FFF2-40B4-BE49-F238E27FC236}">
                <a16:creationId xmlns:a16="http://schemas.microsoft.com/office/drawing/2014/main" id="{3BA76367-85FC-252E-F772-64DCC4A80A05}"/>
              </a:ext>
            </a:extLst>
          </p:cNvPr>
          <p:cNvSpPr txBox="1">
            <a:spLocks/>
          </p:cNvSpPr>
          <p:nvPr/>
        </p:nvSpPr>
        <p:spPr>
          <a:xfrm>
            <a:off x="161038" y="1304520"/>
            <a:ext cx="8821924" cy="12890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The real question is not </a:t>
            </a:r>
          </a:p>
          <a:p>
            <a:pPr marL="0" indent="0">
              <a:buNone/>
            </a:pPr>
            <a:r>
              <a:rPr lang="en-US" sz="2800" dirty="0">
                <a:solidFill>
                  <a:schemeClr val="accent3">
                    <a:lumMod val="10000"/>
                  </a:schemeClr>
                </a:solidFill>
              </a:rPr>
              <a:t>	whether you need technology. </a:t>
            </a:r>
            <a:r>
              <a:rPr lang="en-US" sz="2800" b="1" dirty="0">
                <a:solidFill>
                  <a:srgbClr val="70060E"/>
                </a:solidFill>
              </a:rPr>
              <a:t>You do.</a:t>
            </a:r>
            <a:endParaRPr lang="en-US" b="1" dirty="0">
              <a:solidFill>
                <a:srgbClr val="70060E"/>
              </a:solidFill>
            </a:endParaRPr>
          </a:p>
        </p:txBody>
      </p:sp>
      <p:sp>
        <p:nvSpPr>
          <p:cNvPr id="25" name="Rectangle 3">
            <a:extLst>
              <a:ext uri="{FF2B5EF4-FFF2-40B4-BE49-F238E27FC236}">
                <a16:creationId xmlns:a16="http://schemas.microsoft.com/office/drawing/2014/main" id="{F61CAC71-2D07-0044-E565-9F3F0C455068}"/>
              </a:ext>
            </a:extLst>
          </p:cNvPr>
          <p:cNvSpPr>
            <a:spLocks noChangeArrowheads="1"/>
          </p:cNvSpPr>
          <p:nvPr/>
        </p:nvSpPr>
        <p:spPr bwMode="auto">
          <a:xfrm>
            <a:off x="304800" y="-18365"/>
            <a:ext cx="89723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Competitors quote faster, onboard faster, integrate faster, and solve problems faster.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Google Shape;90;p16">
            <a:extLst>
              <a:ext uri="{FF2B5EF4-FFF2-40B4-BE49-F238E27FC236}">
                <a16:creationId xmlns:a16="http://schemas.microsoft.com/office/drawing/2014/main" id="{898AE5D3-2C80-4A38-3160-82F70FA16FD4}"/>
              </a:ext>
            </a:extLst>
          </p:cNvPr>
          <p:cNvSpPr txBox="1">
            <a:spLocks/>
          </p:cNvSpPr>
          <p:nvPr/>
        </p:nvSpPr>
        <p:spPr>
          <a:xfrm>
            <a:off x="161038" y="2302488"/>
            <a:ext cx="9115810" cy="12890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chemeClr val="accent3">
                    <a:lumMod val="10000"/>
                  </a:schemeClr>
                </a:solidFill>
              </a:rPr>
              <a:t>The real question is: </a:t>
            </a:r>
          </a:p>
          <a:p>
            <a:pPr marL="0" indent="0">
              <a:buNone/>
            </a:pPr>
            <a:r>
              <a:rPr lang="en-US" sz="2800" b="1" dirty="0"/>
              <a:t>	</a:t>
            </a:r>
            <a:r>
              <a:rPr lang="en-US" sz="2800" b="1" i="1" dirty="0"/>
              <a:t>which should y</a:t>
            </a:r>
            <a:r>
              <a:rPr lang="en-US" sz="2800" b="1" dirty="0"/>
              <a:t>ou </a:t>
            </a:r>
            <a:r>
              <a:rPr lang="en-US" sz="2800" b="1" dirty="0">
                <a:solidFill>
                  <a:srgbClr val="70060E"/>
                </a:solidFill>
              </a:rPr>
              <a:t>own?</a:t>
            </a:r>
            <a:r>
              <a:rPr lang="en-US" sz="2800" b="1" dirty="0"/>
              <a:t> </a:t>
            </a:r>
          </a:p>
          <a:p>
            <a:pPr marL="0" indent="0">
              <a:buNone/>
            </a:pPr>
            <a:r>
              <a:rPr lang="en-US" sz="2800" b="1" dirty="0"/>
              <a:t>		which should you </a:t>
            </a:r>
            <a:r>
              <a:rPr lang="en-US" sz="2800" b="1" dirty="0">
                <a:solidFill>
                  <a:srgbClr val="70060E"/>
                </a:solidFill>
              </a:rPr>
              <a:t>rent?</a:t>
            </a:r>
            <a:r>
              <a:rPr lang="en-US" sz="2800" b="1" dirty="0"/>
              <a:t> </a:t>
            </a:r>
          </a:p>
          <a:p>
            <a:pPr marL="0" indent="0">
              <a:buNone/>
            </a:pPr>
            <a:r>
              <a:rPr lang="en-US" sz="2800" b="1" dirty="0"/>
              <a:t>			&amp; which should you </a:t>
            </a:r>
            <a:r>
              <a:rPr lang="en-US" sz="2800" b="1" dirty="0">
                <a:solidFill>
                  <a:srgbClr val="70060E"/>
                </a:solidFill>
              </a:rPr>
              <a:t>stitch together?</a:t>
            </a:r>
            <a:endParaRPr lang="en-US" b="1" dirty="0">
              <a:solidFill>
                <a:srgbClr val="70060E"/>
              </a:solidFill>
            </a:endParaRPr>
          </a:p>
        </p:txBody>
      </p:sp>
    </p:spTree>
    <p:extLst>
      <p:ext uri="{BB962C8B-B14F-4D97-AF65-F5344CB8AC3E}">
        <p14:creationId xmlns:p14="http://schemas.microsoft.com/office/powerpoint/2010/main" val="200109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444621D-71FD-ACE5-254D-1F910B9B17E9}"/>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D2A0BFAE-55B8-8B4F-1F3A-A8D686537323}"/>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Those questions are all old, what’s new here?</a:t>
            </a:r>
            <a:endParaRPr b="1" dirty="0"/>
          </a:p>
        </p:txBody>
      </p:sp>
      <p:grpSp>
        <p:nvGrpSpPr>
          <p:cNvPr id="6" name="Group 5">
            <a:extLst>
              <a:ext uri="{FF2B5EF4-FFF2-40B4-BE49-F238E27FC236}">
                <a16:creationId xmlns:a16="http://schemas.microsoft.com/office/drawing/2014/main" id="{0F1BF279-56F7-A89B-B05F-3A2C87D3127B}"/>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234F90B7-8521-3276-5429-0D6F9082355A}"/>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7F8EA2EE-4671-1934-1D11-CB9341B2E22E}"/>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07CDA6B-8A0D-5BE6-C27B-B216163B6B1F}"/>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9" name="Google Shape;90;p16">
            <a:extLst>
              <a:ext uri="{FF2B5EF4-FFF2-40B4-BE49-F238E27FC236}">
                <a16:creationId xmlns:a16="http://schemas.microsoft.com/office/drawing/2014/main" id="{5F66B43D-1D90-5E20-7FFE-F6DA16C5DE5B}"/>
              </a:ext>
            </a:extLst>
          </p:cNvPr>
          <p:cNvSpPr txBox="1">
            <a:spLocks/>
          </p:cNvSpPr>
          <p:nvPr/>
        </p:nvSpPr>
        <p:spPr>
          <a:xfrm>
            <a:off x="161038" y="1304520"/>
            <a:ext cx="7382761" cy="12890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dirty="0">
                <a:solidFill>
                  <a:schemeClr val="accent3">
                    <a:lumMod val="10000"/>
                  </a:schemeClr>
                </a:solidFill>
              </a:rPr>
              <a:t>AI (LLMs) models has </a:t>
            </a:r>
            <a:r>
              <a:rPr lang="en-US" sz="2800" b="1" dirty="0">
                <a:solidFill>
                  <a:schemeClr val="accent3">
                    <a:lumMod val="10000"/>
                  </a:schemeClr>
                </a:solidFill>
              </a:rPr>
              <a:t>changed the game</a:t>
            </a:r>
            <a:r>
              <a:rPr lang="en-US" sz="2800" dirty="0">
                <a:solidFill>
                  <a:schemeClr val="accent3">
                    <a:lumMod val="10000"/>
                  </a:schemeClr>
                </a:solidFill>
              </a:rPr>
              <a:t>!</a:t>
            </a:r>
            <a:endParaRPr lang="en-US" b="1" dirty="0">
              <a:solidFill>
                <a:srgbClr val="70060E"/>
              </a:solidFill>
            </a:endParaRPr>
          </a:p>
        </p:txBody>
      </p:sp>
      <p:sp>
        <p:nvSpPr>
          <p:cNvPr id="25" name="Rectangle 3">
            <a:extLst>
              <a:ext uri="{FF2B5EF4-FFF2-40B4-BE49-F238E27FC236}">
                <a16:creationId xmlns:a16="http://schemas.microsoft.com/office/drawing/2014/main" id="{4F95F802-8A46-D46A-2A0C-1A6A0E868501}"/>
              </a:ext>
            </a:extLst>
          </p:cNvPr>
          <p:cNvSpPr>
            <a:spLocks noChangeArrowheads="1"/>
          </p:cNvSpPr>
          <p:nvPr/>
        </p:nvSpPr>
        <p:spPr bwMode="auto">
          <a:xfrm>
            <a:off x="304800" y="-18365"/>
            <a:ext cx="89723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Competitors quote faster, onboard faster, integrate faster, and solve problems faster.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Google Shape;90;p16">
            <a:extLst>
              <a:ext uri="{FF2B5EF4-FFF2-40B4-BE49-F238E27FC236}">
                <a16:creationId xmlns:a16="http://schemas.microsoft.com/office/drawing/2014/main" id="{49E71D23-7831-2A78-E2FC-57B44025EED0}"/>
              </a:ext>
            </a:extLst>
          </p:cNvPr>
          <p:cNvSpPr txBox="1">
            <a:spLocks/>
          </p:cNvSpPr>
          <p:nvPr/>
        </p:nvSpPr>
        <p:spPr>
          <a:xfrm>
            <a:off x="625907" y="1837841"/>
            <a:ext cx="6840723" cy="12890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2800" b="1" dirty="0">
                <a:solidFill>
                  <a:schemeClr val="accent3">
                    <a:lumMod val="10000"/>
                  </a:schemeClr>
                </a:solidFill>
              </a:rPr>
              <a:t>The next answer to the problem of </a:t>
            </a:r>
          </a:p>
          <a:p>
            <a:pPr marL="0" indent="0">
              <a:buNone/>
            </a:pPr>
            <a:r>
              <a:rPr lang="en-US" sz="2800" b="1" dirty="0">
                <a:solidFill>
                  <a:schemeClr val="accent3">
                    <a:lumMod val="10000"/>
                  </a:schemeClr>
                </a:solidFill>
              </a:rPr>
              <a:t>	“</a:t>
            </a:r>
            <a:r>
              <a:rPr lang="en-US" sz="2800" b="1" dirty="0">
                <a:solidFill>
                  <a:srgbClr val="70060E"/>
                </a:solidFill>
              </a:rPr>
              <a:t>how do we talk to machines?</a:t>
            </a:r>
            <a:r>
              <a:rPr lang="en-US" sz="2800" b="1" dirty="0">
                <a:solidFill>
                  <a:schemeClr val="accent3">
                    <a:lumMod val="10000"/>
                  </a:schemeClr>
                </a:solidFill>
              </a:rPr>
              <a:t>”</a:t>
            </a:r>
            <a:endParaRPr lang="en-US" b="1" dirty="0">
              <a:solidFill>
                <a:srgbClr val="70060E"/>
              </a:solidFill>
            </a:endParaRPr>
          </a:p>
        </p:txBody>
      </p:sp>
    </p:spTree>
    <p:extLst>
      <p:ext uri="{BB962C8B-B14F-4D97-AF65-F5344CB8AC3E}">
        <p14:creationId xmlns:p14="http://schemas.microsoft.com/office/powerpoint/2010/main" val="219644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2F85254-9641-6EF3-768E-1DF5D796EC20}"/>
            </a:ext>
          </a:extLst>
        </p:cNvPr>
        <p:cNvGrpSpPr/>
        <p:nvPr/>
      </p:nvGrpSpPr>
      <p:grpSpPr>
        <a:xfrm>
          <a:off x="0" y="0"/>
          <a:ext cx="0" cy="0"/>
          <a:chOff x="0" y="0"/>
          <a:chExt cx="0" cy="0"/>
        </a:xfrm>
      </p:grpSpPr>
      <p:sp>
        <p:nvSpPr>
          <p:cNvPr id="96" name="Google Shape;96;p17">
            <a:extLst>
              <a:ext uri="{FF2B5EF4-FFF2-40B4-BE49-F238E27FC236}">
                <a16:creationId xmlns:a16="http://schemas.microsoft.com/office/drawing/2014/main" id="{F97D0AE1-365B-1B89-9B48-B1F27001CACB}"/>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AI has changed the game!</a:t>
            </a:r>
            <a:endParaRPr b="1" dirty="0"/>
          </a:p>
        </p:txBody>
      </p:sp>
      <p:grpSp>
        <p:nvGrpSpPr>
          <p:cNvPr id="6" name="Group 5">
            <a:extLst>
              <a:ext uri="{FF2B5EF4-FFF2-40B4-BE49-F238E27FC236}">
                <a16:creationId xmlns:a16="http://schemas.microsoft.com/office/drawing/2014/main" id="{A7C0A951-CD66-65B6-F4A9-10A425B0FBC0}"/>
              </a:ext>
            </a:extLst>
          </p:cNvPr>
          <p:cNvGrpSpPr/>
          <p:nvPr/>
        </p:nvGrpSpPr>
        <p:grpSpPr>
          <a:xfrm>
            <a:off x="0" y="4595905"/>
            <a:ext cx="3232298" cy="547595"/>
            <a:chOff x="0" y="4595905"/>
            <a:chExt cx="3232298" cy="547595"/>
          </a:xfrm>
        </p:grpSpPr>
        <p:pic>
          <p:nvPicPr>
            <p:cNvPr id="7" name="Google Shape;64;p13">
              <a:extLst>
                <a:ext uri="{FF2B5EF4-FFF2-40B4-BE49-F238E27FC236}">
                  <a16:creationId xmlns:a16="http://schemas.microsoft.com/office/drawing/2014/main" id="{9F22A73B-B73C-F82E-92AE-F3A847BCA513}"/>
                </a:ext>
              </a:extLst>
            </p:cNvPr>
            <p:cNvPicPr preferRelativeResize="0">
              <a:picLocks noChangeAspect="1"/>
            </p:cNvPicPr>
            <p:nvPr/>
          </p:nvPicPr>
          <p:blipFill>
            <a:blip r:embed="rId3">
              <a:alphaModFix/>
            </a:blip>
            <a:stretch>
              <a:fillRect/>
            </a:stretch>
          </p:blipFill>
          <p:spPr>
            <a:xfrm rot="21599996">
              <a:off x="70884" y="4595905"/>
              <a:ext cx="1110047" cy="344689"/>
            </a:xfrm>
            <a:prstGeom prst="rect">
              <a:avLst/>
            </a:prstGeom>
            <a:noFill/>
            <a:ln>
              <a:noFill/>
            </a:ln>
          </p:spPr>
        </p:pic>
        <p:cxnSp>
          <p:nvCxnSpPr>
            <p:cNvPr id="8" name="Straight Connector 7">
              <a:extLst>
                <a:ext uri="{FF2B5EF4-FFF2-40B4-BE49-F238E27FC236}">
                  <a16:creationId xmlns:a16="http://schemas.microsoft.com/office/drawing/2014/main" id="{C04D01D0-DC63-94BB-3979-F820A27891D7}"/>
                </a:ext>
              </a:extLst>
            </p:cNvPr>
            <p:cNvCxnSpPr>
              <a:cxnSpLocks/>
            </p:cNvCxnSpPr>
            <p:nvPr/>
          </p:nvCxnSpPr>
          <p:spPr>
            <a:xfrm flipV="1">
              <a:off x="70884" y="4940595"/>
              <a:ext cx="2416458"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0805E4-C107-A9C9-D414-84FA288A4789}"/>
                </a:ext>
              </a:extLst>
            </p:cNvPr>
            <p:cNvSpPr txBox="1"/>
            <p:nvPr/>
          </p:nvSpPr>
          <p:spPr>
            <a:xfrm>
              <a:off x="0" y="4912668"/>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25" name="Rectangle 3">
            <a:extLst>
              <a:ext uri="{FF2B5EF4-FFF2-40B4-BE49-F238E27FC236}">
                <a16:creationId xmlns:a16="http://schemas.microsoft.com/office/drawing/2014/main" id="{924F4A01-B53F-247A-5C71-155BB4B3BC13}"/>
              </a:ext>
            </a:extLst>
          </p:cNvPr>
          <p:cNvSpPr>
            <a:spLocks noChangeArrowheads="1"/>
          </p:cNvSpPr>
          <p:nvPr/>
        </p:nvSpPr>
        <p:spPr bwMode="auto">
          <a:xfrm>
            <a:off x="304800" y="-18365"/>
            <a:ext cx="89723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Competitors quote faster, onboard faster, integrate faster, and solve problems faster.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Google Shape;90;p16">
            <a:extLst>
              <a:ext uri="{FF2B5EF4-FFF2-40B4-BE49-F238E27FC236}">
                <a16:creationId xmlns:a16="http://schemas.microsoft.com/office/drawing/2014/main" id="{8C61D5A0-76D9-DECF-1194-246EF516679A}"/>
              </a:ext>
            </a:extLst>
          </p:cNvPr>
          <p:cNvSpPr txBox="1">
            <a:spLocks/>
          </p:cNvSpPr>
          <p:nvPr/>
        </p:nvSpPr>
        <p:spPr>
          <a:xfrm>
            <a:off x="2828663" y="1805044"/>
            <a:ext cx="3614266" cy="870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3200" b="1" dirty="0">
                <a:solidFill>
                  <a:srgbClr val="70060E"/>
                </a:solidFill>
              </a:rPr>
              <a:t>[Begin live demo]</a:t>
            </a:r>
          </a:p>
        </p:txBody>
      </p:sp>
    </p:spTree>
    <p:extLst>
      <p:ext uri="{BB962C8B-B14F-4D97-AF65-F5344CB8AC3E}">
        <p14:creationId xmlns:p14="http://schemas.microsoft.com/office/powerpoint/2010/main" val="1174356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AFB393F-F848-6A53-660B-CFF51AD8615F}"/>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6DCDF785-8A94-4CE6-4FB6-9C8B6C32D342}"/>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While we’re waiting…</a:t>
            </a:r>
            <a:endParaRPr dirty="0"/>
          </a:p>
        </p:txBody>
      </p:sp>
      <p:grpSp>
        <p:nvGrpSpPr>
          <p:cNvPr id="2" name="Group 1">
            <a:extLst>
              <a:ext uri="{FF2B5EF4-FFF2-40B4-BE49-F238E27FC236}">
                <a16:creationId xmlns:a16="http://schemas.microsoft.com/office/drawing/2014/main" id="{B0E5A5E5-37C4-D420-2273-25E1016620E9}"/>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1BC92C1E-12F2-6B5D-669E-7A106CC6EF72}"/>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C2F673A7-C273-C859-ADAD-25C0EA087134}"/>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DD05722-A97D-D6BA-03B7-4BD8927648FB}"/>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7" name="Google Shape;90;p16">
            <a:extLst>
              <a:ext uri="{FF2B5EF4-FFF2-40B4-BE49-F238E27FC236}">
                <a16:creationId xmlns:a16="http://schemas.microsoft.com/office/drawing/2014/main" id="{65AF52AA-7299-DB46-E846-3A3D3A0E3ADF}"/>
              </a:ext>
            </a:extLst>
          </p:cNvPr>
          <p:cNvSpPr txBox="1">
            <a:spLocks/>
          </p:cNvSpPr>
          <p:nvPr/>
        </p:nvSpPr>
        <p:spPr>
          <a:xfrm>
            <a:off x="460064" y="1239532"/>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When to Buy</a:t>
            </a:r>
            <a:endParaRPr lang="en-US" dirty="0">
              <a:solidFill>
                <a:srgbClr val="70060E"/>
              </a:solidFill>
            </a:endParaRPr>
          </a:p>
        </p:txBody>
      </p:sp>
      <p:sp>
        <p:nvSpPr>
          <p:cNvPr id="8" name="Google Shape;90;p16">
            <a:extLst>
              <a:ext uri="{FF2B5EF4-FFF2-40B4-BE49-F238E27FC236}">
                <a16:creationId xmlns:a16="http://schemas.microsoft.com/office/drawing/2014/main" id="{702BD4A5-996D-3EE8-63A6-596C08E4A2D8}"/>
              </a:ext>
            </a:extLst>
          </p:cNvPr>
          <p:cNvSpPr txBox="1">
            <a:spLocks/>
          </p:cNvSpPr>
          <p:nvPr/>
        </p:nvSpPr>
        <p:spPr>
          <a:xfrm>
            <a:off x="460064" y="1696732"/>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When to Build</a:t>
            </a:r>
            <a:endParaRPr lang="en-US" dirty="0">
              <a:solidFill>
                <a:srgbClr val="70060E"/>
              </a:solidFill>
            </a:endParaRPr>
          </a:p>
        </p:txBody>
      </p:sp>
      <p:sp>
        <p:nvSpPr>
          <p:cNvPr id="9" name="Google Shape;90;p16">
            <a:extLst>
              <a:ext uri="{FF2B5EF4-FFF2-40B4-BE49-F238E27FC236}">
                <a16:creationId xmlns:a16="http://schemas.microsoft.com/office/drawing/2014/main" id="{40B0D6BF-170E-349E-17AF-803326697D20}"/>
              </a:ext>
            </a:extLst>
          </p:cNvPr>
          <p:cNvSpPr txBox="1">
            <a:spLocks/>
          </p:cNvSpPr>
          <p:nvPr/>
        </p:nvSpPr>
        <p:spPr>
          <a:xfrm>
            <a:off x="460064" y="2186582"/>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When to Stitch</a:t>
            </a:r>
            <a:endParaRPr lang="en-US" dirty="0">
              <a:solidFill>
                <a:srgbClr val="70060E"/>
              </a:solidFill>
            </a:endParaRPr>
          </a:p>
        </p:txBody>
      </p:sp>
      <p:sp>
        <p:nvSpPr>
          <p:cNvPr id="10" name="Google Shape;90;p16">
            <a:extLst>
              <a:ext uri="{FF2B5EF4-FFF2-40B4-BE49-F238E27FC236}">
                <a16:creationId xmlns:a16="http://schemas.microsoft.com/office/drawing/2014/main" id="{C356ED26-691A-F62F-964A-820807545689}"/>
              </a:ext>
            </a:extLst>
          </p:cNvPr>
          <p:cNvSpPr txBox="1">
            <a:spLocks/>
          </p:cNvSpPr>
          <p:nvPr/>
        </p:nvSpPr>
        <p:spPr>
          <a:xfrm>
            <a:off x="460064" y="2664330"/>
            <a:ext cx="4744234"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What is “Vibe Coding”?</a:t>
            </a:r>
            <a:endParaRPr lang="en-US" dirty="0">
              <a:solidFill>
                <a:srgbClr val="70060E"/>
              </a:solidFill>
            </a:endParaRPr>
          </a:p>
        </p:txBody>
      </p:sp>
      <p:sp>
        <p:nvSpPr>
          <p:cNvPr id="20" name="Google Shape;90;p16">
            <a:extLst>
              <a:ext uri="{FF2B5EF4-FFF2-40B4-BE49-F238E27FC236}">
                <a16:creationId xmlns:a16="http://schemas.microsoft.com/office/drawing/2014/main" id="{CE856B18-B3F6-202E-EB5C-F512FD368C48}"/>
              </a:ext>
            </a:extLst>
          </p:cNvPr>
          <p:cNvSpPr txBox="1">
            <a:spLocks/>
          </p:cNvSpPr>
          <p:nvPr/>
        </p:nvSpPr>
        <p:spPr>
          <a:xfrm>
            <a:off x="460064" y="3134068"/>
            <a:ext cx="569308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How </a:t>
            </a:r>
            <a:r>
              <a:rPr lang="en-US" sz="2800" b="1" dirty="0">
                <a:solidFill>
                  <a:srgbClr val="70060E"/>
                </a:solidFill>
              </a:rPr>
              <a:t>LLMs have moved the line</a:t>
            </a:r>
            <a:endParaRPr lang="en-US" dirty="0">
              <a:solidFill>
                <a:srgbClr val="70060E"/>
              </a:solidFill>
            </a:endParaRPr>
          </a:p>
        </p:txBody>
      </p:sp>
      <p:sp>
        <p:nvSpPr>
          <p:cNvPr id="21" name="Google Shape;90;p16">
            <a:extLst>
              <a:ext uri="{FF2B5EF4-FFF2-40B4-BE49-F238E27FC236}">
                <a16:creationId xmlns:a16="http://schemas.microsoft.com/office/drawing/2014/main" id="{C22BFE47-33AB-32FB-01CF-7593F1AD0748}"/>
              </a:ext>
            </a:extLst>
          </p:cNvPr>
          <p:cNvSpPr txBox="1">
            <a:spLocks/>
          </p:cNvSpPr>
          <p:nvPr/>
        </p:nvSpPr>
        <p:spPr>
          <a:xfrm>
            <a:off x="460064" y="3602291"/>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Examples</a:t>
            </a:r>
            <a:endParaRPr lang="en-US" dirty="0">
              <a:solidFill>
                <a:srgbClr val="70060E"/>
              </a:solidFill>
            </a:endParaRPr>
          </a:p>
        </p:txBody>
      </p:sp>
      <p:sp>
        <p:nvSpPr>
          <p:cNvPr id="23" name="Google Shape;90;p16">
            <a:extLst>
              <a:ext uri="{FF2B5EF4-FFF2-40B4-BE49-F238E27FC236}">
                <a16:creationId xmlns:a16="http://schemas.microsoft.com/office/drawing/2014/main" id="{DE2BE8F5-BA21-7255-6194-54437470FD01}"/>
              </a:ext>
            </a:extLst>
          </p:cNvPr>
          <p:cNvSpPr txBox="1">
            <a:spLocks/>
          </p:cNvSpPr>
          <p:nvPr/>
        </p:nvSpPr>
        <p:spPr>
          <a:xfrm>
            <a:off x="460064" y="4063293"/>
            <a:ext cx="4111936" cy="8460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457200"/>
            <a:r>
              <a:rPr lang="en-US" sz="2800" b="1" dirty="0">
                <a:solidFill>
                  <a:srgbClr val="000000"/>
                </a:solidFill>
              </a:rPr>
              <a:t>Conclusions</a:t>
            </a:r>
            <a:endParaRPr lang="en-US" dirty="0">
              <a:solidFill>
                <a:srgbClr val="70060E"/>
              </a:solidFill>
            </a:endParaRPr>
          </a:p>
        </p:txBody>
      </p:sp>
    </p:spTree>
    <p:extLst>
      <p:ext uri="{BB962C8B-B14F-4D97-AF65-F5344CB8AC3E}">
        <p14:creationId xmlns:p14="http://schemas.microsoft.com/office/powerpoint/2010/main" val="38185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20" grpId="0"/>
      <p:bldP spid="21" grpId="0"/>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967CD8C-5E26-B250-9250-322191E65FBE}"/>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87CF84AB-6DD3-4887-2942-561F9BA88F93}"/>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D2FF0A48-7CB3-1C3F-477B-393226B8A055}"/>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59435349-F611-42F4-B3A3-ED473360E0B7}"/>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F0000"/>
                  </a:solidFill>
                  <a:latin typeface="Roboto"/>
                  <a:ea typeface="Roboto"/>
                  <a:cs typeface="Roboto"/>
                  <a:sym typeface="Roboto"/>
                </a:rPr>
                <a:t>Buy</a:t>
              </a:r>
              <a:endParaRPr sz="700" b="1" dirty="0">
                <a:solidFill>
                  <a:srgbClr val="FF0000"/>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61ACA193-A19E-D778-DC5A-6D976E5E9E4A}"/>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Build</a:t>
              </a:r>
              <a:endParaRPr sz="700" b="1" dirty="0">
                <a:latin typeface="Roboto"/>
                <a:ea typeface="Roboto"/>
                <a:cs typeface="Roboto"/>
                <a:sym typeface="Roboto"/>
              </a:endParaRPr>
            </a:p>
          </p:txBody>
        </p:sp>
        <p:sp>
          <p:nvSpPr>
            <p:cNvPr id="14" name="Google Shape;128;p20">
              <a:extLst>
                <a:ext uri="{FF2B5EF4-FFF2-40B4-BE49-F238E27FC236}">
                  <a16:creationId xmlns:a16="http://schemas.microsoft.com/office/drawing/2014/main" id="{4F164B56-DE97-2A5A-4DE2-2D7006692D64}"/>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5720A1AD-9D50-1AC5-997E-2EFD3C8A740E}"/>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C8E9AB30-E1A4-F49B-3C00-F5E27BA63B1E}"/>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EAE60240-097D-5BF7-AEE1-5A6C5B37D10B}"/>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7729C49E-528C-5085-78E3-87A943A3CD4B}"/>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BC765F7A-0953-1F7C-766E-5DF3EDEEB62E}"/>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Buy the Platform</a:t>
            </a:r>
            <a:endParaRPr dirty="0"/>
          </a:p>
        </p:txBody>
      </p:sp>
      <p:grpSp>
        <p:nvGrpSpPr>
          <p:cNvPr id="2" name="Group 1">
            <a:extLst>
              <a:ext uri="{FF2B5EF4-FFF2-40B4-BE49-F238E27FC236}">
                <a16:creationId xmlns:a16="http://schemas.microsoft.com/office/drawing/2014/main" id="{F046DEE8-0A34-A284-6ABF-95A3337B17E4}"/>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8275D6D5-6A94-CA30-FE76-1B235B15DF4C}"/>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D31C432C-AA00-ECD5-972F-2434755CAF17}"/>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472779B-CCF8-2AA2-E994-BFD41B04705B}"/>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B5C82B67-EE74-D97A-A167-3774DDE79093}"/>
              </a:ext>
            </a:extLst>
          </p:cNvPr>
          <p:cNvSpPr/>
          <p:nvPr/>
        </p:nvSpPr>
        <p:spPr>
          <a:xfrm rot="-12433">
            <a:off x="8068105" y="57117"/>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TextBox 24">
            <a:extLst>
              <a:ext uri="{FF2B5EF4-FFF2-40B4-BE49-F238E27FC236}">
                <a16:creationId xmlns:a16="http://schemas.microsoft.com/office/drawing/2014/main" id="{2560A9E3-6297-451E-F848-F0DDEFA0D914}"/>
              </a:ext>
            </a:extLst>
          </p:cNvPr>
          <p:cNvSpPr txBox="1"/>
          <p:nvPr/>
        </p:nvSpPr>
        <p:spPr>
          <a:xfrm>
            <a:off x="367475" y="1376963"/>
            <a:ext cx="8315325" cy="3046988"/>
          </a:xfrm>
          <a:prstGeom prst="rect">
            <a:avLst/>
          </a:prstGeom>
          <a:noFill/>
        </p:spPr>
        <p:txBody>
          <a:bodyPr wrap="square">
            <a:spAutoFit/>
          </a:bodyPr>
          <a:lstStyle/>
          <a:p>
            <a:pPr>
              <a:buNone/>
            </a:pPr>
            <a:r>
              <a:rPr lang="en-US" sz="3200" b="1" dirty="0">
                <a:solidFill>
                  <a:srgbClr val="70060E"/>
                </a:solidFill>
              </a:rPr>
              <a:t>Buy</a:t>
            </a:r>
            <a:r>
              <a:rPr lang="en-US" sz="3200" b="1" dirty="0"/>
              <a:t> when the problem is </a:t>
            </a:r>
          </a:p>
          <a:p>
            <a:pPr marL="457200" indent="-457200">
              <a:buFont typeface="Arial" panose="020B0604020202020204" pitchFamily="34" charset="0"/>
              <a:buChar char="•"/>
            </a:pPr>
            <a:r>
              <a:rPr lang="en-US" sz="3200" b="1" dirty="0"/>
              <a:t>known</a:t>
            </a:r>
          </a:p>
          <a:p>
            <a:pPr marL="457200" indent="-457200">
              <a:buFont typeface="Arial" panose="020B0604020202020204" pitchFamily="34" charset="0"/>
              <a:buChar char="•"/>
            </a:pPr>
            <a:r>
              <a:rPr lang="en-US" sz="3200" b="1" dirty="0"/>
              <a:t>boring</a:t>
            </a:r>
          </a:p>
          <a:p>
            <a:pPr marL="457200" indent="-457200">
              <a:buFont typeface="Arial" panose="020B0604020202020204" pitchFamily="34" charset="0"/>
              <a:buChar char="•"/>
            </a:pPr>
            <a:r>
              <a:rPr lang="en-US" sz="3200" b="1" dirty="0"/>
              <a:t>well-entrenched</a:t>
            </a:r>
          </a:p>
          <a:p>
            <a:pPr marL="457200" indent="-457200">
              <a:buFont typeface="Arial" panose="020B0604020202020204" pitchFamily="34" charset="0"/>
              <a:buChar char="•"/>
            </a:pPr>
            <a:r>
              <a:rPr lang="en-US" sz="3200" b="1" dirty="0"/>
              <a:t>industry-standard </a:t>
            </a:r>
          </a:p>
          <a:p>
            <a:pPr marL="457200" indent="-457200">
              <a:buFont typeface="Arial" panose="020B0604020202020204" pitchFamily="34" charset="0"/>
              <a:buChar char="•"/>
            </a:pPr>
            <a:r>
              <a:rPr lang="en-US" sz="3200" b="1" dirty="0"/>
              <a:t>and </a:t>
            </a:r>
            <a:r>
              <a:rPr lang="en-US" sz="3200" b="1" dirty="0">
                <a:solidFill>
                  <a:srgbClr val="70060E"/>
                </a:solidFill>
              </a:rPr>
              <a:t>not where your edge lives</a:t>
            </a:r>
            <a:endParaRPr lang="en-US" sz="3200" dirty="0"/>
          </a:p>
        </p:txBody>
      </p:sp>
    </p:spTree>
    <p:extLst>
      <p:ext uri="{BB962C8B-B14F-4D97-AF65-F5344CB8AC3E}">
        <p14:creationId xmlns:p14="http://schemas.microsoft.com/office/powerpoint/2010/main" val="2286047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86FBB51E-B15A-A285-D4D1-15405CAE3A9B}"/>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A3E07B02-CDCD-43BB-562F-AFFFDDC68A3A}"/>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66B83DF6-4A9B-5CBC-1BD3-81CAB5E3FB70}"/>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36816587-589E-0511-A973-F2239E817A02}"/>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F0000"/>
                  </a:solidFill>
                  <a:latin typeface="Roboto"/>
                  <a:ea typeface="Roboto"/>
                  <a:cs typeface="Roboto"/>
                  <a:sym typeface="Roboto"/>
                </a:rPr>
                <a:t>Buy</a:t>
              </a:r>
              <a:endParaRPr sz="700" b="1" dirty="0">
                <a:solidFill>
                  <a:srgbClr val="FF0000"/>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1FF4DD75-69F8-8FFA-3BF9-4A9B0E65200D}"/>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Build</a:t>
              </a:r>
              <a:endParaRPr sz="700" b="1" dirty="0">
                <a:latin typeface="Roboto"/>
                <a:ea typeface="Roboto"/>
                <a:cs typeface="Roboto"/>
                <a:sym typeface="Roboto"/>
              </a:endParaRPr>
            </a:p>
          </p:txBody>
        </p:sp>
        <p:sp>
          <p:nvSpPr>
            <p:cNvPr id="14" name="Google Shape;128;p20">
              <a:extLst>
                <a:ext uri="{FF2B5EF4-FFF2-40B4-BE49-F238E27FC236}">
                  <a16:creationId xmlns:a16="http://schemas.microsoft.com/office/drawing/2014/main" id="{3DFCEA1F-FCD0-A704-A0A7-6C3C7F732119}"/>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8E4DE4D0-6FF0-460F-B58A-A7E3A99003DB}"/>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3016A946-AA60-7BAA-89B2-24B327B5877C}"/>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5258D6D1-BAD5-D1E8-0332-83A082D941D6}"/>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FD531410-4F37-DB78-1255-7E703B7F4CD8}"/>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6CE95F02-7F74-6FD3-4B80-BB1B48C3A518}"/>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Buy the Platform</a:t>
            </a:r>
            <a:endParaRPr dirty="0"/>
          </a:p>
        </p:txBody>
      </p:sp>
      <p:grpSp>
        <p:nvGrpSpPr>
          <p:cNvPr id="2" name="Group 1">
            <a:extLst>
              <a:ext uri="{FF2B5EF4-FFF2-40B4-BE49-F238E27FC236}">
                <a16:creationId xmlns:a16="http://schemas.microsoft.com/office/drawing/2014/main" id="{5AEE329D-A9DA-7C34-F880-33B5A0A52C9D}"/>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CFDBBCEC-4CE5-9723-406C-EF5C280FAD08}"/>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892E95AB-93BC-0BF9-21FF-CD8804CD5DFB}"/>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E19CF6A-A273-4CD7-30C2-9D41D048006F}"/>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BA6A6672-0CF5-E0E8-A122-807A78BF320D}"/>
              </a:ext>
            </a:extLst>
          </p:cNvPr>
          <p:cNvSpPr/>
          <p:nvPr/>
        </p:nvSpPr>
        <p:spPr>
          <a:xfrm rot="-12433">
            <a:off x="8068105" y="57117"/>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0;p16">
            <a:extLst>
              <a:ext uri="{FF2B5EF4-FFF2-40B4-BE49-F238E27FC236}">
                <a16:creationId xmlns:a16="http://schemas.microsoft.com/office/drawing/2014/main" id="{4E9EF618-E525-3103-5FBA-EF31DDAB506D}"/>
              </a:ext>
            </a:extLst>
          </p:cNvPr>
          <p:cNvSpPr txBox="1">
            <a:spLocks/>
          </p:cNvSpPr>
          <p:nvPr/>
        </p:nvSpPr>
        <p:spPr>
          <a:xfrm>
            <a:off x="161038" y="130452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3200" b="1" dirty="0">
                <a:solidFill>
                  <a:schemeClr val="accent3">
                    <a:lumMod val="10000"/>
                  </a:schemeClr>
                </a:solidFill>
              </a:rPr>
              <a:t>Good Buy Candidates</a:t>
            </a:r>
          </a:p>
        </p:txBody>
      </p:sp>
      <p:sp>
        <p:nvSpPr>
          <p:cNvPr id="25" name="TextBox 24">
            <a:extLst>
              <a:ext uri="{FF2B5EF4-FFF2-40B4-BE49-F238E27FC236}">
                <a16:creationId xmlns:a16="http://schemas.microsoft.com/office/drawing/2014/main" id="{8899B29D-DB57-D592-9CA9-AA54C70DBF08}"/>
              </a:ext>
            </a:extLst>
          </p:cNvPr>
          <p:cNvSpPr txBox="1"/>
          <p:nvPr/>
        </p:nvSpPr>
        <p:spPr>
          <a:xfrm>
            <a:off x="425450" y="1874692"/>
            <a:ext cx="7905750" cy="2554545"/>
          </a:xfrm>
          <a:prstGeom prst="rect">
            <a:avLst/>
          </a:prstGeom>
          <a:noFill/>
        </p:spPr>
        <p:txBody>
          <a:bodyPr wrap="square">
            <a:spAutoFit/>
          </a:bodyPr>
          <a:lstStyle/>
          <a:p>
            <a:pPr marL="342900" indent="-342900">
              <a:buFont typeface="Arial" panose="020B0604020202020204" pitchFamily="34" charset="0"/>
              <a:buChar char="•"/>
            </a:pPr>
            <a:r>
              <a:rPr lang="en-US" sz="2000" dirty="0"/>
              <a:t>Accounting and billing</a:t>
            </a:r>
          </a:p>
          <a:p>
            <a:pPr marL="342900" indent="-342900">
              <a:buFont typeface="Arial" panose="020B0604020202020204" pitchFamily="34" charset="0"/>
              <a:buChar char="•"/>
            </a:pPr>
            <a:r>
              <a:rPr lang="en-US" sz="2000" dirty="0"/>
              <a:t>Payroll</a:t>
            </a:r>
          </a:p>
          <a:p>
            <a:pPr marL="342900" indent="-342900">
              <a:buFont typeface="Arial" panose="020B0604020202020204" pitchFamily="34" charset="0"/>
              <a:buChar char="•"/>
            </a:pPr>
            <a:r>
              <a:rPr lang="en-US" sz="2000" dirty="0"/>
              <a:t>CRM</a:t>
            </a:r>
          </a:p>
          <a:p>
            <a:pPr marL="342900" indent="-342900">
              <a:buFont typeface="Arial" panose="020B0604020202020204" pitchFamily="34" charset="0"/>
              <a:buChar char="•"/>
            </a:pPr>
            <a:r>
              <a:rPr lang="en-US" sz="2000" dirty="0"/>
              <a:t>Core WMS, TMS, OMS</a:t>
            </a:r>
          </a:p>
          <a:p>
            <a:pPr marL="342900" indent="-342900">
              <a:buFont typeface="Arial" panose="020B0604020202020204" pitchFamily="34" charset="0"/>
              <a:buChar char="•"/>
            </a:pPr>
            <a:r>
              <a:rPr lang="en-US" sz="2000" dirty="0"/>
              <a:t>Inventory transaction system</a:t>
            </a:r>
          </a:p>
          <a:p>
            <a:pPr marL="342900" indent="-342900">
              <a:buFont typeface="Arial" panose="020B0604020202020204" pitchFamily="34" charset="0"/>
              <a:buChar char="•"/>
            </a:pPr>
            <a:r>
              <a:rPr lang="en-US" sz="2000" dirty="0"/>
              <a:t>Payment processing</a:t>
            </a:r>
          </a:p>
          <a:p>
            <a:pPr marL="342900" indent="-342900">
              <a:buFont typeface="Arial" panose="020B0604020202020204" pitchFamily="34" charset="0"/>
              <a:buChar char="•"/>
            </a:pPr>
            <a:r>
              <a:rPr lang="en-US" sz="2000" dirty="0"/>
              <a:t>Compliance-heavy workflows</a:t>
            </a:r>
          </a:p>
          <a:p>
            <a:pPr marL="342900" indent="-342900">
              <a:buFont typeface="Arial" panose="020B0604020202020204" pitchFamily="34" charset="0"/>
              <a:buChar char="•"/>
            </a:pPr>
            <a:r>
              <a:rPr lang="en-US" sz="2000" dirty="0"/>
              <a:t>Industry-standard reporting</a:t>
            </a:r>
          </a:p>
        </p:txBody>
      </p:sp>
    </p:spTree>
    <p:extLst>
      <p:ext uri="{BB962C8B-B14F-4D97-AF65-F5344CB8AC3E}">
        <p14:creationId xmlns:p14="http://schemas.microsoft.com/office/powerpoint/2010/main" val="379936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7F957527-4470-0AED-15BC-D1C5137D8A1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11D39502-65FA-9FD7-8D4C-9BF815D76826}"/>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E69D895A-C016-0CAD-9E5E-6D74ABB529A1}"/>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BDF008AE-27EE-9FDE-E005-23AB9BF88602}"/>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F0000"/>
                  </a:solidFill>
                  <a:latin typeface="Roboto"/>
                  <a:ea typeface="Roboto"/>
                  <a:cs typeface="Roboto"/>
                  <a:sym typeface="Roboto"/>
                </a:rPr>
                <a:t>Buy</a:t>
              </a:r>
              <a:endParaRPr sz="700" b="1" dirty="0">
                <a:solidFill>
                  <a:srgbClr val="FF0000"/>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51D2602B-BFEB-86F4-8AE4-8AC37E4BAFA2}"/>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Build</a:t>
              </a:r>
              <a:endParaRPr sz="700" b="1" dirty="0">
                <a:latin typeface="Roboto"/>
                <a:ea typeface="Roboto"/>
                <a:cs typeface="Roboto"/>
                <a:sym typeface="Roboto"/>
              </a:endParaRPr>
            </a:p>
          </p:txBody>
        </p:sp>
        <p:sp>
          <p:nvSpPr>
            <p:cNvPr id="14" name="Google Shape;128;p20">
              <a:extLst>
                <a:ext uri="{FF2B5EF4-FFF2-40B4-BE49-F238E27FC236}">
                  <a16:creationId xmlns:a16="http://schemas.microsoft.com/office/drawing/2014/main" id="{46F1A1B9-6F19-BD7C-AA1B-0039C8FAB37F}"/>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A1010036-D78A-963B-2F15-DEC9C3831AA2}"/>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0E44A7A0-8682-6BA9-54F4-EEAF7EB1BEEA}"/>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94293A6E-4280-7502-2A6E-634BE01DBC72}"/>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03633E00-0196-29C6-D8EF-602B09D36E05}"/>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3F5E630C-1EDF-B8D0-A8A6-D0A39740CC13}"/>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Buy the Platform</a:t>
            </a:r>
            <a:endParaRPr dirty="0"/>
          </a:p>
        </p:txBody>
      </p:sp>
      <p:grpSp>
        <p:nvGrpSpPr>
          <p:cNvPr id="2" name="Group 1">
            <a:extLst>
              <a:ext uri="{FF2B5EF4-FFF2-40B4-BE49-F238E27FC236}">
                <a16:creationId xmlns:a16="http://schemas.microsoft.com/office/drawing/2014/main" id="{F0F1B7C0-1AA2-D608-5D03-A536AC494584}"/>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23F764C9-A07B-D256-D932-1CF829F6B7A7}"/>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2A3FCD85-8DB7-B7C9-4755-B5307C665914}"/>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0AA0FC-5919-3411-A5BE-4D222EC95E05}"/>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B5C05ED3-36A4-ECD9-6276-754F0D524DEB}"/>
              </a:ext>
            </a:extLst>
          </p:cNvPr>
          <p:cNvSpPr/>
          <p:nvPr/>
        </p:nvSpPr>
        <p:spPr>
          <a:xfrm rot="-12433">
            <a:off x="8068105" y="57117"/>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TextBox 24">
            <a:extLst>
              <a:ext uri="{FF2B5EF4-FFF2-40B4-BE49-F238E27FC236}">
                <a16:creationId xmlns:a16="http://schemas.microsoft.com/office/drawing/2014/main" id="{1C7EAA3A-A9BB-D1B6-FE09-308F0C015E7A}"/>
              </a:ext>
            </a:extLst>
          </p:cNvPr>
          <p:cNvSpPr txBox="1"/>
          <p:nvPr/>
        </p:nvSpPr>
        <p:spPr>
          <a:xfrm>
            <a:off x="393699" y="1411945"/>
            <a:ext cx="8438626" cy="707886"/>
          </a:xfrm>
          <a:prstGeom prst="rect">
            <a:avLst/>
          </a:prstGeom>
          <a:noFill/>
        </p:spPr>
        <p:txBody>
          <a:bodyPr wrap="square">
            <a:spAutoFit/>
          </a:bodyPr>
          <a:lstStyle/>
          <a:p>
            <a:r>
              <a:rPr lang="en-US" sz="2000" b="1" dirty="0"/>
              <a:t>Buy when the problem is </a:t>
            </a:r>
            <a:r>
              <a:rPr lang="en-US" sz="2000" b="1" dirty="0">
                <a:solidFill>
                  <a:srgbClr val="70060E"/>
                </a:solidFill>
              </a:rPr>
              <a:t>core to operating</a:t>
            </a:r>
            <a:r>
              <a:rPr lang="en-US" sz="2000" b="1" dirty="0"/>
              <a:t>, </a:t>
            </a:r>
          </a:p>
          <a:p>
            <a:r>
              <a:rPr lang="en-US" sz="2000" b="1" dirty="0"/>
              <a:t>			but </a:t>
            </a:r>
            <a:r>
              <a:rPr lang="en-US" sz="2000" b="1" dirty="0">
                <a:solidFill>
                  <a:srgbClr val="70060E"/>
                </a:solidFill>
              </a:rPr>
              <a:t>not core to differentiating</a:t>
            </a:r>
            <a:r>
              <a:rPr lang="en-US" sz="2000" b="1" dirty="0"/>
              <a:t>.</a:t>
            </a:r>
            <a:endParaRPr lang="en-US" sz="2000" dirty="0"/>
          </a:p>
        </p:txBody>
      </p:sp>
      <p:sp>
        <p:nvSpPr>
          <p:cNvPr id="27" name="TextBox 26">
            <a:extLst>
              <a:ext uri="{FF2B5EF4-FFF2-40B4-BE49-F238E27FC236}">
                <a16:creationId xmlns:a16="http://schemas.microsoft.com/office/drawing/2014/main" id="{A50A450B-6701-FA73-AE0F-C509FF16E398}"/>
              </a:ext>
            </a:extLst>
          </p:cNvPr>
          <p:cNvSpPr txBox="1"/>
          <p:nvPr/>
        </p:nvSpPr>
        <p:spPr>
          <a:xfrm>
            <a:off x="393699" y="2606411"/>
            <a:ext cx="7905750" cy="707886"/>
          </a:xfrm>
          <a:prstGeom prst="rect">
            <a:avLst/>
          </a:prstGeom>
          <a:noFill/>
        </p:spPr>
        <p:txBody>
          <a:bodyPr wrap="square">
            <a:spAutoFit/>
          </a:bodyPr>
          <a:lstStyle/>
          <a:p>
            <a:r>
              <a:rPr lang="en-US" sz="2000" dirty="0"/>
              <a:t>Unless your edge is inventing a better WMS </a:t>
            </a:r>
          </a:p>
          <a:p>
            <a:pPr lvl="2"/>
            <a:r>
              <a:rPr lang="en-US" sz="2000" dirty="0"/>
              <a:t>		just </a:t>
            </a:r>
            <a:r>
              <a:rPr lang="en-US" sz="2000" b="1" dirty="0">
                <a:solidFill>
                  <a:srgbClr val="70060E"/>
                </a:solidFill>
              </a:rPr>
              <a:t>go pick one up at the store</a:t>
            </a:r>
          </a:p>
        </p:txBody>
      </p:sp>
    </p:spTree>
    <p:extLst>
      <p:ext uri="{BB962C8B-B14F-4D97-AF65-F5344CB8AC3E}">
        <p14:creationId xmlns:p14="http://schemas.microsoft.com/office/powerpoint/2010/main" val="179723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333AE189-6BA5-0525-A3E2-624A6406AB4E}"/>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32097D36-9658-D149-EB66-622CD21FE033}"/>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337C6CC7-D2AA-63FE-E5D1-9F2C9D54978B}"/>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62E82A88-5E80-A775-474A-6B3209584E28}"/>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F0000"/>
                  </a:solidFill>
                  <a:latin typeface="Roboto"/>
                  <a:ea typeface="Roboto"/>
                  <a:cs typeface="Roboto"/>
                  <a:sym typeface="Roboto"/>
                </a:rPr>
                <a:t>Buy</a:t>
              </a:r>
              <a:endParaRPr sz="700" b="1" dirty="0">
                <a:solidFill>
                  <a:srgbClr val="FF0000"/>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4B1D10C5-ABB3-EEB0-D824-9277E0461D8D}"/>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Build</a:t>
              </a:r>
              <a:endParaRPr sz="700" b="1" dirty="0">
                <a:latin typeface="Roboto"/>
                <a:ea typeface="Roboto"/>
                <a:cs typeface="Roboto"/>
                <a:sym typeface="Roboto"/>
              </a:endParaRPr>
            </a:p>
          </p:txBody>
        </p:sp>
        <p:sp>
          <p:nvSpPr>
            <p:cNvPr id="14" name="Google Shape;128;p20">
              <a:extLst>
                <a:ext uri="{FF2B5EF4-FFF2-40B4-BE49-F238E27FC236}">
                  <a16:creationId xmlns:a16="http://schemas.microsoft.com/office/drawing/2014/main" id="{010DA243-4722-E84E-A605-E1C6368404B0}"/>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C5D5550F-C66C-6C6B-7788-2D6D1F64F715}"/>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A49B2F05-48F9-5912-5E24-097BE32AEE9D}"/>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EA869C7F-B42D-6770-2448-05BE51FB9082}"/>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3060C225-F823-46F1-B369-7388FB80069B}"/>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7C8C739F-74D2-8151-029E-FFC57DB7EF46}"/>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Buy the Platform</a:t>
            </a:r>
            <a:endParaRPr dirty="0"/>
          </a:p>
        </p:txBody>
      </p:sp>
      <p:grpSp>
        <p:nvGrpSpPr>
          <p:cNvPr id="2" name="Group 1">
            <a:extLst>
              <a:ext uri="{FF2B5EF4-FFF2-40B4-BE49-F238E27FC236}">
                <a16:creationId xmlns:a16="http://schemas.microsoft.com/office/drawing/2014/main" id="{E8F2FC8F-AF9D-D09E-A605-E9EB9B2E7FF6}"/>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096430B7-F3E7-7ED7-8B5A-A520BA9E5523}"/>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9F0D07D4-F680-20CB-DDEE-4830A299247C}"/>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1A14830-932C-DD54-D7EC-ED9B7F079DBA}"/>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CC9AF19C-2936-C44B-E509-E4EC0887A95F}"/>
              </a:ext>
            </a:extLst>
          </p:cNvPr>
          <p:cNvSpPr/>
          <p:nvPr/>
        </p:nvSpPr>
        <p:spPr>
          <a:xfrm rot="-12433">
            <a:off x="8068105" y="57117"/>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0;p16">
            <a:extLst>
              <a:ext uri="{FF2B5EF4-FFF2-40B4-BE49-F238E27FC236}">
                <a16:creationId xmlns:a16="http://schemas.microsoft.com/office/drawing/2014/main" id="{B128BC9F-A94D-F36C-28E8-D5EA736338E1}"/>
              </a:ext>
            </a:extLst>
          </p:cNvPr>
          <p:cNvSpPr txBox="1">
            <a:spLocks/>
          </p:cNvSpPr>
          <p:nvPr/>
        </p:nvSpPr>
        <p:spPr>
          <a:xfrm>
            <a:off x="161038" y="130452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There will be times when buying </a:t>
            </a:r>
            <a:r>
              <a:rPr lang="en-US" sz="2800" b="1" dirty="0">
                <a:solidFill>
                  <a:srgbClr val="70060E"/>
                </a:solidFill>
              </a:rPr>
              <a:t>hurts</a:t>
            </a:r>
          </a:p>
        </p:txBody>
      </p:sp>
      <p:sp>
        <p:nvSpPr>
          <p:cNvPr id="26" name="TextBox 25">
            <a:extLst>
              <a:ext uri="{FF2B5EF4-FFF2-40B4-BE49-F238E27FC236}">
                <a16:creationId xmlns:a16="http://schemas.microsoft.com/office/drawing/2014/main" id="{31CB003D-FC04-0B89-4428-3A21B099411B}"/>
              </a:ext>
            </a:extLst>
          </p:cNvPr>
          <p:cNvSpPr txBox="1"/>
          <p:nvPr/>
        </p:nvSpPr>
        <p:spPr>
          <a:xfrm>
            <a:off x="393700" y="1862304"/>
            <a:ext cx="7905750" cy="2246769"/>
          </a:xfrm>
          <a:prstGeom prst="rect">
            <a:avLst/>
          </a:prstGeom>
          <a:noFill/>
        </p:spPr>
        <p:txBody>
          <a:bodyPr wrap="square">
            <a:spAutoFit/>
          </a:bodyPr>
          <a:lstStyle/>
          <a:p>
            <a:pPr marL="342900" indent="-342900">
              <a:buFont typeface="Arial" panose="020B0604020202020204" pitchFamily="34" charset="0"/>
              <a:buChar char="•"/>
            </a:pPr>
            <a:r>
              <a:rPr lang="en-US" sz="2000" dirty="0"/>
              <a:t>Options are </a:t>
            </a:r>
            <a:r>
              <a:rPr lang="en-US" sz="2000" b="1" dirty="0">
                <a:solidFill>
                  <a:srgbClr val="70060E"/>
                </a:solidFill>
              </a:rPr>
              <a:t>bad, clunky, painful</a:t>
            </a:r>
          </a:p>
          <a:p>
            <a:pPr marL="342900" indent="-342900">
              <a:buFont typeface="Arial" panose="020B0604020202020204" pitchFamily="34" charset="0"/>
              <a:buChar char="•"/>
            </a:pPr>
            <a:r>
              <a:rPr lang="en-US" sz="2000" dirty="0"/>
              <a:t>Pricing creates a high barrier to entry</a:t>
            </a:r>
          </a:p>
          <a:p>
            <a:pPr marL="342900" indent="-342900">
              <a:buFont typeface="Arial" panose="020B0604020202020204" pitchFamily="34" charset="0"/>
              <a:buChar char="•"/>
            </a:pPr>
            <a:r>
              <a:rPr lang="en-US" sz="2000" dirty="0"/>
              <a:t>Platform does 80% of what you need, but the last 20% matters</a:t>
            </a:r>
          </a:p>
          <a:p>
            <a:pPr marL="342900" indent="-342900">
              <a:buFont typeface="Arial" panose="020B0604020202020204" pitchFamily="34" charset="0"/>
              <a:buChar char="•"/>
            </a:pPr>
            <a:r>
              <a:rPr lang="en-US" sz="2000" dirty="0"/>
              <a:t>Vendor roadmap does not match your business roadmap</a:t>
            </a:r>
          </a:p>
          <a:p>
            <a:pPr marL="342900" indent="-342900">
              <a:buFont typeface="Arial" panose="020B0604020202020204" pitchFamily="34" charset="0"/>
              <a:buChar char="•"/>
            </a:pPr>
            <a:r>
              <a:rPr lang="en-US" sz="2000" dirty="0"/>
              <a:t>Inventory transaction system</a:t>
            </a:r>
          </a:p>
          <a:p>
            <a:pPr marL="342900" indent="-342900">
              <a:buFont typeface="Arial" panose="020B0604020202020204" pitchFamily="34" charset="0"/>
              <a:buChar char="•"/>
            </a:pPr>
            <a:r>
              <a:rPr lang="en-US" sz="2000" dirty="0"/>
              <a:t>system makes you operate like everyone </a:t>
            </a:r>
            <a:r>
              <a:rPr lang="en-US" sz="2000" dirty="0" err="1"/>
              <a:t>elseCompliance</a:t>
            </a:r>
            <a:r>
              <a:rPr lang="en-US" sz="2000" dirty="0"/>
              <a:t>-heavy workflows</a:t>
            </a:r>
          </a:p>
        </p:txBody>
      </p:sp>
    </p:spTree>
    <p:extLst>
      <p:ext uri="{BB962C8B-B14F-4D97-AF65-F5344CB8AC3E}">
        <p14:creationId xmlns:p14="http://schemas.microsoft.com/office/powerpoint/2010/main" val="192534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8A5E07E-386A-2319-81AF-2104C293238C}"/>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00A17150-6C4B-59A5-45D4-266D789C66B6}"/>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D5676B1C-26B9-FA56-1657-203152BFF903}"/>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FFCE1E63-71D8-F372-7A72-7C83663C5F08}"/>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F0000"/>
                  </a:solidFill>
                  <a:latin typeface="Roboto"/>
                  <a:ea typeface="Roboto"/>
                  <a:cs typeface="Roboto"/>
                  <a:sym typeface="Roboto"/>
                </a:rPr>
                <a:t>Buy</a:t>
              </a:r>
              <a:endParaRPr sz="700" b="1" dirty="0">
                <a:solidFill>
                  <a:srgbClr val="FF0000"/>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1AEB1B77-1B0F-3DC5-86CD-A4E10BE24C2E}"/>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Build</a:t>
              </a:r>
              <a:endParaRPr sz="700" b="1" dirty="0">
                <a:latin typeface="Roboto"/>
                <a:ea typeface="Roboto"/>
                <a:cs typeface="Roboto"/>
                <a:sym typeface="Roboto"/>
              </a:endParaRPr>
            </a:p>
          </p:txBody>
        </p:sp>
        <p:sp>
          <p:nvSpPr>
            <p:cNvPr id="14" name="Google Shape;128;p20">
              <a:extLst>
                <a:ext uri="{FF2B5EF4-FFF2-40B4-BE49-F238E27FC236}">
                  <a16:creationId xmlns:a16="http://schemas.microsoft.com/office/drawing/2014/main" id="{604C1EEE-D342-3349-D677-2A6260AD0CCF}"/>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391CFF2E-E1ED-0ED2-20CA-C4A34FCB8EA0}"/>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A8DB79C0-B31F-137E-BD7B-DC650DF74891}"/>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6968678F-1757-5488-E792-888CBBA3C47F}"/>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9C8DE478-9EFE-87AD-9DFD-1B9EB390D50D}"/>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A0E29531-2455-DB80-85F5-BD4989506828}"/>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Buy the Platform</a:t>
            </a:r>
            <a:endParaRPr dirty="0"/>
          </a:p>
        </p:txBody>
      </p:sp>
      <p:grpSp>
        <p:nvGrpSpPr>
          <p:cNvPr id="2" name="Group 1">
            <a:extLst>
              <a:ext uri="{FF2B5EF4-FFF2-40B4-BE49-F238E27FC236}">
                <a16:creationId xmlns:a16="http://schemas.microsoft.com/office/drawing/2014/main" id="{4D9B3EE4-7134-50C6-FB04-0AED0C70B4C9}"/>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3AC98682-E2B9-DABE-AF0F-5373DC1CB9A9}"/>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5B071DC6-D90E-D563-192B-69C6D034B2D4}"/>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05A70CE-F958-66F2-851D-0709ECA6DC61}"/>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4BC257F0-9018-6F5B-A47F-53629D26FB84}"/>
              </a:ext>
            </a:extLst>
          </p:cNvPr>
          <p:cNvSpPr/>
          <p:nvPr/>
        </p:nvSpPr>
        <p:spPr>
          <a:xfrm rot="-12433">
            <a:off x="8068105" y="57117"/>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0;p16">
            <a:extLst>
              <a:ext uri="{FF2B5EF4-FFF2-40B4-BE49-F238E27FC236}">
                <a16:creationId xmlns:a16="http://schemas.microsoft.com/office/drawing/2014/main" id="{4A1AFE2A-155E-EB69-13F4-5203C898B223}"/>
              </a:ext>
            </a:extLst>
          </p:cNvPr>
          <p:cNvSpPr txBox="1">
            <a:spLocks/>
          </p:cNvSpPr>
          <p:nvPr/>
        </p:nvSpPr>
        <p:spPr>
          <a:xfrm>
            <a:off x="161038" y="130452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Remember…</a:t>
            </a:r>
          </a:p>
        </p:txBody>
      </p:sp>
      <p:sp>
        <p:nvSpPr>
          <p:cNvPr id="26" name="TextBox 25">
            <a:extLst>
              <a:ext uri="{FF2B5EF4-FFF2-40B4-BE49-F238E27FC236}">
                <a16:creationId xmlns:a16="http://schemas.microsoft.com/office/drawing/2014/main" id="{049A0370-AE29-32FF-58D5-B46DD6FA3648}"/>
              </a:ext>
            </a:extLst>
          </p:cNvPr>
          <p:cNvSpPr txBox="1"/>
          <p:nvPr/>
        </p:nvSpPr>
        <p:spPr>
          <a:xfrm>
            <a:off x="393700" y="1862304"/>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No software is forever</a:t>
            </a:r>
          </a:p>
        </p:txBody>
      </p:sp>
      <p:sp>
        <p:nvSpPr>
          <p:cNvPr id="6" name="TextBox 5">
            <a:extLst>
              <a:ext uri="{FF2B5EF4-FFF2-40B4-BE49-F238E27FC236}">
                <a16:creationId xmlns:a16="http://schemas.microsoft.com/office/drawing/2014/main" id="{DB2447B6-64C3-C4B0-B7CC-BC58C053A19D}"/>
              </a:ext>
            </a:extLst>
          </p:cNvPr>
          <p:cNvSpPr txBox="1"/>
          <p:nvPr/>
        </p:nvSpPr>
        <p:spPr>
          <a:xfrm>
            <a:off x="393700" y="2285949"/>
            <a:ext cx="7905750" cy="400110"/>
          </a:xfrm>
          <a:prstGeom prst="rect">
            <a:avLst/>
          </a:prstGeom>
          <a:noFill/>
        </p:spPr>
        <p:txBody>
          <a:bodyPr wrap="square">
            <a:spAutoFit/>
          </a:bodyPr>
          <a:lstStyle/>
          <a:p>
            <a:pPr marL="342900" lvl="2" indent="-342900">
              <a:buFont typeface="Arial" panose="020B0604020202020204" pitchFamily="34" charset="0"/>
              <a:buChar char="•"/>
            </a:pPr>
            <a:r>
              <a:rPr lang="en-US" sz="2000" dirty="0"/>
              <a:t>Plan to graduate as your needs change</a:t>
            </a:r>
          </a:p>
        </p:txBody>
      </p:sp>
      <p:sp>
        <p:nvSpPr>
          <p:cNvPr id="18" name="TextBox 17">
            <a:extLst>
              <a:ext uri="{FF2B5EF4-FFF2-40B4-BE49-F238E27FC236}">
                <a16:creationId xmlns:a16="http://schemas.microsoft.com/office/drawing/2014/main" id="{9CF833AC-A314-C5BA-59DB-965ED6912231}"/>
              </a:ext>
            </a:extLst>
          </p:cNvPr>
          <p:cNvSpPr txBox="1"/>
          <p:nvPr/>
        </p:nvSpPr>
        <p:spPr>
          <a:xfrm>
            <a:off x="393700" y="3955228"/>
            <a:ext cx="8679417" cy="400110"/>
          </a:xfrm>
          <a:prstGeom prst="rect">
            <a:avLst/>
          </a:prstGeom>
          <a:noFill/>
        </p:spPr>
        <p:txBody>
          <a:bodyPr wrap="square">
            <a:spAutoFit/>
          </a:bodyPr>
          <a:lstStyle/>
          <a:p>
            <a:pPr marL="342900" indent="-342900">
              <a:buFont typeface="Arial" panose="020B0604020202020204" pitchFamily="34" charset="0"/>
              <a:buChar char="•"/>
            </a:pPr>
            <a:r>
              <a:rPr lang="en-US" sz="2000" dirty="0">
                <a:solidFill>
                  <a:srgbClr val="70060E"/>
                </a:solidFill>
              </a:rPr>
              <a:t>Do not rewrite double-entry accounting* </a:t>
            </a:r>
            <a:r>
              <a:rPr lang="en-US" sz="2000" dirty="0"/>
              <a:t>just because you use it</a:t>
            </a:r>
          </a:p>
        </p:txBody>
      </p:sp>
      <p:sp>
        <p:nvSpPr>
          <p:cNvPr id="20" name="TextBox 19">
            <a:extLst>
              <a:ext uri="{FF2B5EF4-FFF2-40B4-BE49-F238E27FC236}">
                <a16:creationId xmlns:a16="http://schemas.microsoft.com/office/drawing/2014/main" id="{C34E16AA-584F-804F-95DD-FFB4E8E28C72}"/>
              </a:ext>
            </a:extLst>
          </p:cNvPr>
          <p:cNvSpPr txBox="1"/>
          <p:nvPr/>
        </p:nvSpPr>
        <p:spPr>
          <a:xfrm>
            <a:off x="728975" y="4302901"/>
            <a:ext cx="8438625" cy="307777"/>
          </a:xfrm>
          <a:prstGeom prst="rect">
            <a:avLst/>
          </a:prstGeom>
          <a:noFill/>
        </p:spPr>
        <p:txBody>
          <a:bodyPr wrap="square">
            <a:spAutoFit/>
          </a:bodyPr>
          <a:lstStyle/>
          <a:p>
            <a:r>
              <a:rPr lang="en-US" dirty="0">
                <a:solidFill>
                  <a:srgbClr val="70060E"/>
                </a:solidFill>
              </a:rPr>
              <a:t>*See also</a:t>
            </a:r>
            <a:r>
              <a:rPr lang="en-US" dirty="0">
                <a:solidFill>
                  <a:schemeClr val="accent3">
                    <a:lumMod val="10000"/>
                  </a:schemeClr>
                </a:solidFill>
              </a:rPr>
              <a:t>: when to rewrite double-entry accounting</a:t>
            </a:r>
          </a:p>
        </p:txBody>
      </p:sp>
      <p:pic>
        <p:nvPicPr>
          <p:cNvPr id="7170" name="Picture 2" descr="FreshBooks Review: Attractive, Capable, and Still the Best ...">
            <a:extLst>
              <a:ext uri="{FF2B5EF4-FFF2-40B4-BE49-F238E27FC236}">
                <a16:creationId xmlns:a16="http://schemas.microsoft.com/office/drawing/2014/main" id="{FE6A9E5C-CB24-6696-61BA-B98D16DC94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628" y="2706765"/>
            <a:ext cx="2165793" cy="1218258"/>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AFF76CD1-B6AA-B356-31AF-1100D684FED9}"/>
              </a:ext>
            </a:extLst>
          </p:cNvPr>
          <p:cNvGrpSpPr/>
          <p:nvPr/>
        </p:nvGrpSpPr>
        <p:grpSpPr>
          <a:xfrm>
            <a:off x="2701925" y="2689130"/>
            <a:ext cx="2758705" cy="1269511"/>
            <a:chOff x="2701925" y="2689130"/>
            <a:chExt cx="2758705" cy="1269511"/>
          </a:xfrm>
        </p:grpSpPr>
        <p:cxnSp>
          <p:nvCxnSpPr>
            <p:cNvPr id="21" name="Straight Arrow Connector 20">
              <a:extLst>
                <a:ext uri="{FF2B5EF4-FFF2-40B4-BE49-F238E27FC236}">
                  <a16:creationId xmlns:a16="http://schemas.microsoft.com/office/drawing/2014/main" id="{3D5D1DB3-EDE8-73AE-0671-520478B28C43}"/>
                </a:ext>
              </a:extLst>
            </p:cNvPr>
            <p:cNvCxnSpPr/>
            <p:nvPr/>
          </p:nvCxnSpPr>
          <p:spPr>
            <a:xfrm>
              <a:off x="2701925" y="3292481"/>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pic>
          <p:nvPicPr>
            <p:cNvPr id="7172" name="Picture 4" descr="QuickBooks Logo and symbol, meaning, history, PNG, brand">
              <a:extLst>
                <a:ext uri="{FF2B5EF4-FFF2-40B4-BE49-F238E27FC236}">
                  <a16:creationId xmlns:a16="http://schemas.microsoft.com/office/drawing/2014/main" id="{40BF6C2A-D352-5111-0B4C-2468D67E5B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722" y="2689130"/>
              <a:ext cx="2256908" cy="12695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335AE1D1-9734-3363-0C1F-4C9CF6EE1AD1}"/>
              </a:ext>
            </a:extLst>
          </p:cNvPr>
          <p:cNvGrpSpPr/>
          <p:nvPr/>
        </p:nvGrpSpPr>
        <p:grpSpPr>
          <a:xfrm>
            <a:off x="5702154" y="2701076"/>
            <a:ext cx="2916645" cy="1269511"/>
            <a:chOff x="5702154" y="2701076"/>
            <a:chExt cx="2916645" cy="1269511"/>
          </a:xfrm>
        </p:grpSpPr>
        <p:cxnSp>
          <p:nvCxnSpPr>
            <p:cNvPr id="25" name="Straight Arrow Connector 24">
              <a:extLst>
                <a:ext uri="{FF2B5EF4-FFF2-40B4-BE49-F238E27FC236}">
                  <a16:creationId xmlns:a16="http://schemas.microsoft.com/office/drawing/2014/main" id="{501F3DC4-021A-ED4A-CEB3-8C5461EC90DD}"/>
                </a:ext>
              </a:extLst>
            </p:cNvPr>
            <p:cNvCxnSpPr/>
            <p:nvPr/>
          </p:nvCxnSpPr>
          <p:spPr>
            <a:xfrm>
              <a:off x="5702154" y="3292481"/>
              <a:ext cx="418213" cy="0"/>
            </a:xfrm>
            <a:prstGeom prst="straightConnector1">
              <a:avLst/>
            </a:prstGeom>
            <a:ln w="57150">
              <a:solidFill>
                <a:srgbClr val="70060E"/>
              </a:solidFill>
              <a:tailEnd type="triangle"/>
            </a:ln>
          </p:spPr>
          <p:style>
            <a:lnRef idx="1">
              <a:schemeClr val="accent1"/>
            </a:lnRef>
            <a:fillRef idx="0">
              <a:schemeClr val="accent1"/>
            </a:fillRef>
            <a:effectRef idx="0">
              <a:schemeClr val="accent1"/>
            </a:effectRef>
            <a:fontRef idx="minor">
              <a:schemeClr val="tx1"/>
            </a:fontRef>
          </p:style>
        </p:cxnSp>
        <p:pic>
          <p:nvPicPr>
            <p:cNvPr id="7174" name="Picture 6" descr="NetSuite Logo and symbol, meaning, history, PNG, brand">
              <a:extLst>
                <a:ext uri="{FF2B5EF4-FFF2-40B4-BE49-F238E27FC236}">
                  <a16:creationId xmlns:a16="http://schemas.microsoft.com/office/drawing/2014/main" id="{7EF9BB4F-0887-1EBC-241B-A1AA84F5B6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1891" y="2701076"/>
              <a:ext cx="2256908" cy="126951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837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6" grpId="0"/>
      <p:bldP spid="18" grpId="0"/>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481AA49-6359-4C49-1750-952D1ACBE909}"/>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F44ADEF8-6B66-5728-D6A3-DD3F35E1405F}"/>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253C37FE-4A20-A739-54DF-2DA3DD9AF90C}"/>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B2003374-5513-7FE4-7345-FED259CDFAA7}"/>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A8570E4F-480C-9006-5B74-831640311B42}"/>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Build</a:t>
              </a:r>
              <a:endParaRPr sz="700" b="1" dirty="0">
                <a:solidFill>
                  <a:srgbClr val="FB0201"/>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6CEB9ACE-741F-DEC7-FCA6-FF4954824B4B}"/>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EBC6FCCD-9D09-6E72-80C1-F64BC3672712}"/>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48AFF14D-ACA5-4752-EB3B-01D3BF563FEF}"/>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580943D4-5AC1-D458-C8C3-0091817D8D56}"/>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894E7A01-1236-2D93-966D-A77C45214B4E}"/>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7938E5C7-1909-558D-9F63-28C4DF2CF8BA}"/>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Build the Edge</a:t>
            </a:r>
            <a:endParaRPr dirty="0"/>
          </a:p>
        </p:txBody>
      </p:sp>
      <p:grpSp>
        <p:nvGrpSpPr>
          <p:cNvPr id="2" name="Group 1">
            <a:extLst>
              <a:ext uri="{FF2B5EF4-FFF2-40B4-BE49-F238E27FC236}">
                <a16:creationId xmlns:a16="http://schemas.microsoft.com/office/drawing/2014/main" id="{4641F260-2F83-94A9-00A8-5DD5175C6ECA}"/>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207B846B-3B1C-2A53-5736-4597685A4AC4}"/>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723088B1-CE2C-608F-6D77-141C1D93F57D}"/>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2809E03-7534-DF8A-E716-6AA0E7D94708}"/>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E127A243-502B-46FB-8B5E-CA81EEDBDA42}"/>
              </a:ext>
            </a:extLst>
          </p:cNvPr>
          <p:cNvSpPr/>
          <p:nvPr/>
        </p:nvSpPr>
        <p:spPr>
          <a:xfrm rot="-12433">
            <a:off x="8068105" y="21664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0;p16">
            <a:extLst>
              <a:ext uri="{FF2B5EF4-FFF2-40B4-BE49-F238E27FC236}">
                <a16:creationId xmlns:a16="http://schemas.microsoft.com/office/drawing/2014/main" id="{2670EEB2-5118-5FB6-F092-97F0D570211B}"/>
              </a:ext>
            </a:extLst>
          </p:cNvPr>
          <p:cNvSpPr txBox="1">
            <a:spLocks/>
          </p:cNvSpPr>
          <p:nvPr/>
        </p:nvSpPr>
        <p:spPr>
          <a:xfrm>
            <a:off x="161037" y="1304520"/>
            <a:ext cx="8788409"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3200" b="1" dirty="0">
                <a:solidFill>
                  <a:srgbClr val="70060E"/>
                </a:solidFill>
              </a:rPr>
              <a:t>Build when it differentiates you</a:t>
            </a:r>
            <a:endParaRPr lang="en-US" sz="3200" b="1" dirty="0">
              <a:solidFill>
                <a:schemeClr val="accent3">
                  <a:lumMod val="10000"/>
                </a:schemeClr>
              </a:solidFill>
            </a:endParaRPr>
          </a:p>
        </p:txBody>
      </p:sp>
      <p:sp>
        <p:nvSpPr>
          <p:cNvPr id="27" name="TextBox 26">
            <a:extLst>
              <a:ext uri="{FF2B5EF4-FFF2-40B4-BE49-F238E27FC236}">
                <a16:creationId xmlns:a16="http://schemas.microsoft.com/office/drawing/2014/main" id="{1DF1767F-15D5-54AF-DDDC-1D5DA7D28E49}"/>
              </a:ext>
            </a:extLst>
          </p:cNvPr>
          <p:cNvSpPr txBox="1"/>
          <p:nvPr/>
        </p:nvSpPr>
        <p:spPr>
          <a:xfrm>
            <a:off x="393699" y="1862304"/>
            <a:ext cx="8254189" cy="584775"/>
          </a:xfrm>
          <a:prstGeom prst="rect">
            <a:avLst/>
          </a:prstGeom>
          <a:noFill/>
        </p:spPr>
        <p:txBody>
          <a:bodyPr wrap="square">
            <a:spAutoFit/>
          </a:bodyPr>
          <a:lstStyle/>
          <a:p>
            <a:pPr marL="342900" indent="-342900">
              <a:buFont typeface="Arial" panose="020B0604020202020204" pitchFamily="34" charset="0"/>
              <a:buChar char="•"/>
            </a:pPr>
            <a:r>
              <a:rPr lang="en-US" sz="3200" b="1" dirty="0">
                <a:solidFill>
                  <a:srgbClr val="70060E"/>
                </a:solidFill>
              </a:rPr>
              <a:t>Not</a:t>
            </a:r>
            <a:r>
              <a:rPr lang="en-US" sz="3200" dirty="0"/>
              <a:t> because you can</a:t>
            </a:r>
          </a:p>
        </p:txBody>
      </p:sp>
      <p:sp>
        <p:nvSpPr>
          <p:cNvPr id="28" name="TextBox 27">
            <a:extLst>
              <a:ext uri="{FF2B5EF4-FFF2-40B4-BE49-F238E27FC236}">
                <a16:creationId xmlns:a16="http://schemas.microsoft.com/office/drawing/2014/main" id="{A6B0FBC9-17C0-05FD-9D57-6E47804A0BD4}"/>
              </a:ext>
            </a:extLst>
          </p:cNvPr>
          <p:cNvSpPr txBox="1"/>
          <p:nvPr/>
        </p:nvSpPr>
        <p:spPr>
          <a:xfrm>
            <a:off x="393698" y="2317572"/>
            <a:ext cx="8254189" cy="584775"/>
          </a:xfrm>
          <a:prstGeom prst="rect">
            <a:avLst/>
          </a:prstGeom>
          <a:noFill/>
        </p:spPr>
        <p:txBody>
          <a:bodyPr wrap="square">
            <a:spAutoFit/>
          </a:bodyPr>
          <a:lstStyle/>
          <a:p>
            <a:pPr marL="342900" indent="-342900">
              <a:buFont typeface="Arial" panose="020B0604020202020204" pitchFamily="34" charset="0"/>
              <a:buChar char="•"/>
            </a:pPr>
            <a:r>
              <a:rPr lang="en-US" sz="3200" b="1" dirty="0">
                <a:solidFill>
                  <a:srgbClr val="70060E"/>
                </a:solidFill>
              </a:rPr>
              <a:t>Not</a:t>
            </a:r>
            <a:r>
              <a:rPr lang="en-US" sz="3200" dirty="0"/>
              <a:t> because AI made it cheaper</a:t>
            </a:r>
          </a:p>
        </p:txBody>
      </p:sp>
      <p:sp>
        <p:nvSpPr>
          <p:cNvPr id="29" name="TextBox 28">
            <a:extLst>
              <a:ext uri="{FF2B5EF4-FFF2-40B4-BE49-F238E27FC236}">
                <a16:creationId xmlns:a16="http://schemas.microsoft.com/office/drawing/2014/main" id="{999EE6DD-5D09-CD0C-37C7-0F0A2CECD9AF}"/>
              </a:ext>
            </a:extLst>
          </p:cNvPr>
          <p:cNvSpPr txBox="1"/>
          <p:nvPr/>
        </p:nvSpPr>
        <p:spPr>
          <a:xfrm>
            <a:off x="393697" y="2772840"/>
            <a:ext cx="8254189" cy="584775"/>
          </a:xfrm>
          <a:prstGeom prst="rect">
            <a:avLst/>
          </a:prstGeom>
          <a:noFill/>
        </p:spPr>
        <p:txBody>
          <a:bodyPr wrap="square">
            <a:spAutoFit/>
          </a:bodyPr>
          <a:lstStyle/>
          <a:p>
            <a:pPr marL="342900" indent="-342900">
              <a:buFont typeface="Arial" panose="020B0604020202020204" pitchFamily="34" charset="0"/>
              <a:buChar char="•"/>
            </a:pPr>
            <a:r>
              <a:rPr lang="en-US" sz="3200" b="1" dirty="0">
                <a:solidFill>
                  <a:srgbClr val="70060E"/>
                </a:solidFill>
              </a:rPr>
              <a:t>Not</a:t>
            </a:r>
            <a:r>
              <a:rPr lang="en-US" sz="3200" dirty="0"/>
              <a:t> because the buy-it screen is ugly</a:t>
            </a:r>
          </a:p>
        </p:txBody>
      </p:sp>
      <p:sp>
        <p:nvSpPr>
          <p:cNvPr id="30" name="TextBox 29">
            <a:extLst>
              <a:ext uri="{FF2B5EF4-FFF2-40B4-BE49-F238E27FC236}">
                <a16:creationId xmlns:a16="http://schemas.microsoft.com/office/drawing/2014/main" id="{2469EAA9-52F4-9200-850B-01FB56FB00D8}"/>
              </a:ext>
            </a:extLst>
          </p:cNvPr>
          <p:cNvSpPr txBox="1"/>
          <p:nvPr/>
        </p:nvSpPr>
        <p:spPr>
          <a:xfrm>
            <a:off x="393697" y="3246955"/>
            <a:ext cx="8254189" cy="1077218"/>
          </a:xfrm>
          <a:prstGeom prst="rect">
            <a:avLst/>
          </a:prstGeom>
          <a:noFill/>
        </p:spPr>
        <p:txBody>
          <a:bodyPr wrap="square">
            <a:spAutoFit/>
          </a:bodyPr>
          <a:lstStyle/>
          <a:p>
            <a:pPr marL="342900" indent="-342900">
              <a:buFont typeface="Arial" panose="020B0604020202020204" pitchFamily="34" charset="0"/>
              <a:buChar char="•"/>
            </a:pPr>
            <a:r>
              <a:rPr lang="en-US" sz="3200" dirty="0"/>
              <a:t>Build when that custom capability </a:t>
            </a:r>
          </a:p>
          <a:p>
            <a:pPr lvl="1"/>
            <a:r>
              <a:rPr lang="en-US" sz="3200" b="1" dirty="0">
                <a:solidFill>
                  <a:srgbClr val="70060E"/>
                </a:solidFill>
              </a:rPr>
              <a:t>					helps you win</a:t>
            </a:r>
          </a:p>
        </p:txBody>
      </p:sp>
    </p:spTree>
    <p:extLst>
      <p:ext uri="{BB962C8B-B14F-4D97-AF65-F5344CB8AC3E}">
        <p14:creationId xmlns:p14="http://schemas.microsoft.com/office/powerpoint/2010/main" val="152055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CDB7C0C-5C30-D2AD-0E45-96B1FDD40F8F}"/>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2E56D7BB-FC74-4F3E-F706-F06CC364A754}"/>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lvl="0"/>
            <a:r>
              <a:rPr lang="en-US" dirty="0"/>
              <a:t>Build the Edge</a:t>
            </a:r>
            <a:endParaRPr dirty="0"/>
          </a:p>
        </p:txBody>
      </p:sp>
      <p:grpSp>
        <p:nvGrpSpPr>
          <p:cNvPr id="2" name="Group 1">
            <a:extLst>
              <a:ext uri="{FF2B5EF4-FFF2-40B4-BE49-F238E27FC236}">
                <a16:creationId xmlns:a16="http://schemas.microsoft.com/office/drawing/2014/main" id="{8E6937B5-DE19-90DF-429F-D7E8323C786B}"/>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56909584-FECF-50EE-2967-02D91BA83FD2}"/>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7112095D-34B5-C6D4-6F24-789EC54DD03B}"/>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6F4CB00-03C5-7D69-2D98-40EF08064430}"/>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23" name="Google Shape;90;p16">
            <a:extLst>
              <a:ext uri="{FF2B5EF4-FFF2-40B4-BE49-F238E27FC236}">
                <a16:creationId xmlns:a16="http://schemas.microsoft.com/office/drawing/2014/main" id="{36E883EA-D7F5-7867-155B-4EB0BE62A4AC}"/>
              </a:ext>
            </a:extLst>
          </p:cNvPr>
          <p:cNvSpPr txBox="1">
            <a:spLocks/>
          </p:cNvSpPr>
          <p:nvPr/>
        </p:nvSpPr>
        <p:spPr>
          <a:xfrm>
            <a:off x="187189" y="117614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3200" b="1" dirty="0">
                <a:solidFill>
                  <a:schemeClr val="accent3">
                    <a:lumMod val="10000"/>
                  </a:schemeClr>
                </a:solidFill>
              </a:rPr>
              <a:t>The seduction of “mine”</a:t>
            </a:r>
          </a:p>
        </p:txBody>
      </p:sp>
      <p:sp>
        <p:nvSpPr>
          <p:cNvPr id="25" name="TextBox 24">
            <a:extLst>
              <a:ext uri="{FF2B5EF4-FFF2-40B4-BE49-F238E27FC236}">
                <a16:creationId xmlns:a16="http://schemas.microsoft.com/office/drawing/2014/main" id="{C7E36EA5-B522-30BE-3D77-D7A249DF53D2}"/>
              </a:ext>
            </a:extLst>
          </p:cNvPr>
          <p:cNvSpPr txBox="1"/>
          <p:nvPr/>
        </p:nvSpPr>
        <p:spPr>
          <a:xfrm>
            <a:off x="415723" y="1777987"/>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“We can do that better”</a:t>
            </a:r>
          </a:p>
        </p:txBody>
      </p:sp>
      <p:grpSp>
        <p:nvGrpSpPr>
          <p:cNvPr id="9" name="Group 8">
            <a:extLst>
              <a:ext uri="{FF2B5EF4-FFF2-40B4-BE49-F238E27FC236}">
                <a16:creationId xmlns:a16="http://schemas.microsoft.com/office/drawing/2014/main" id="{184701AE-AF4D-659C-CD1E-DACA985FDF49}"/>
              </a:ext>
            </a:extLst>
          </p:cNvPr>
          <p:cNvGrpSpPr/>
          <p:nvPr/>
        </p:nvGrpSpPr>
        <p:grpSpPr>
          <a:xfrm>
            <a:off x="8026100" y="-32100"/>
            <a:ext cx="1597650" cy="1312348"/>
            <a:chOff x="8026100" y="-32100"/>
            <a:chExt cx="1597650" cy="1312348"/>
          </a:xfrm>
        </p:grpSpPr>
        <p:sp>
          <p:nvSpPr>
            <p:cNvPr id="10" name="Google Shape;125;p20">
              <a:extLst>
                <a:ext uri="{FF2B5EF4-FFF2-40B4-BE49-F238E27FC236}">
                  <a16:creationId xmlns:a16="http://schemas.microsoft.com/office/drawing/2014/main" id="{4861D31A-7DC0-5FEE-92D4-87CEE2683E33}"/>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6;p20">
              <a:extLst>
                <a:ext uri="{FF2B5EF4-FFF2-40B4-BE49-F238E27FC236}">
                  <a16:creationId xmlns:a16="http://schemas.microsoft.com/office/drawing/2014/main" id="{C315CC30-36FB-5813-B20B-0EA4337D6E04}"/>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20" name="Google Shape;127;p20">
              <a:extLst>
                <a:ext uri="{FF2B5EF4-FFF2-40B4-BE49-F238E27FC236}">
                  <a16:creationId xmlns:a16="http://schemas.microsoft.com/office/drawing/2014/main" id="{4E2C250E-0D7E-F1AB-790A-022D9DD2E62D}"/>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Build</a:t>
              </a:r>
              <a:endParaRPr sz="700" b="1" dirty="0">
                <a:solidFill>
                  <a:srgbClr val="FB0201"/>
                </a:solidFill>
                <a:latin typeface="Roboto"/>
                <a:ea typeface="Roboto"/>
                <a:cs typeface="Roboto"/>
                <a:sym typeface="Roboto"/>
              </a:endParaRPr>
            </a:p>
          </p:txBody>
        </p:sp>
        <p:sp>
          <p:nvSpPr>
            <p:cNvPr id="21" name="Google Shape;128;p20">
              <a:extLst>
                <a:ext uri="{FF2B5EF4-FFF2-40B4-BE49-F238E27FC236}">
                  <a16:creationId xmlns:a16="http://schemas.microsoft.com/office/drawing/2014/main" id="{FA6201E8-672E-F735-E470-D9DA7C25EF7B}"/>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26" name="Google Shape;129;p20">
              <a:extLst>
                <a:ext uri="{FF2B5EF4-FFF2-40B4-BE49-F238E27FC236}">
                  <a16:creationId xmlns:a16="http://schemas.microsoft.com/office/drawing/2014/main" id="{48C47F71-5E33-DEE7-94A6-F21B214C9BEE}"/>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27" name="Google Shape;130;p20">
              <a:extLst>
                <a:ext uri="{FF2B5EF4-FFF2-40B4-BE49-F238E27FC236}">
                  <a16:creationId xmlns:a16="http://schemas.microsoft.com/office/drawing/2014/main" id="{A6AE6222-ED03-71CF-9DBE-069F2C478632}"/>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28" name="Google Shape;130;p20">
              <a:extLst>
                <a:ext uri="{FF2B5EF4-FFF2-40B4-BE49-F238E27FC236}">
                  <a16:creationId xmlns:a16="http://schemas.microsoft.com/office/drawing/2014/main" id="{6F58BFDC-C322-2AA3-D334-BC39EF020FEC}"/>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9" name="Google Shape;130;p20">
              <a:extLst>
                <a:ext uri="{FF2B5EF4-FFF2-40B4-BE49-F238E27FC236}">
                  <a16:creationId xmlns:a16="http://schemas.microsoft.com/office/drawing/2014/main" id="{DBE1B158-EF51-A339-5CAF-79FF72096FC4}"/>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30" name="Google Shape;132;p20">
            <a:extLst>
              <a:ext uri="{FF2B5EF4-FFF2-40B4-BE49-F238E27FC236}">
                <a16:creationId xmlns:a16="http://schemas.microsoft.com/office/drawing/2014/main" id="{C02EF7EA-BB6F-917D-29B1-62B3CD41E8D6}"/>
              </a:ext>
            </a:extLst>
          </p:cNvPr>
          <p:cNvSpPr/>
          <p:nvPr/>
        </p:nvSpPr>
        <p:spPr>
          <a:xfrm rot="-12433">
            <a:off x="8068105" y="21664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02C152ED-A584-2854-B190-D41C6C3C9120}"/>
              </a:ext>
            </a:extLst>
          </p:cNvPr>
          <p:cNvSpPr txBox="1"/>
          <p:nvPr/>
        </p:nvSpPr>
        <p:spPr>
          <a:xfrm>
            <a:off x="415723" y="2706807"/>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“We don’t need all that junk that comes with ______”</a:t>
            </a:r>
          </a:p>
        </p:txBody>
      </p:sp>
      <p:sp>
        <p:nvSpPr>
          <p:cNvPr id="11" name="TextBox 10">
            <a:extLst>
              <a:ext uri="{FF2B5EF4-FFF2-40B4-BE49-F238E27FC236}">
                <a16:creationId xmlns:a16="http://schemas.microsoft.com/office/drawing/2014/main" id="{0CF1DB61-0E45-5729-9F8E-F230EA9A4E87}"/>
              </a:ext>
            </a:extLst>
          </p:cNvPr>
          <p:cNvSpPr txBox="1"/>
          <p:nvPr/>
        </p:nvSpPr>
        <p:spPr>
          <a:xfrm>
            <a:off x="415723" y="2242397"/>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“We can do that cheaper”</a:t>
            </a:r>
          </a:p>
        </p:txBody>
      </p:sp>
      <p:sp>
        <p:nvSpPr>
          <p:cNvPr id="12" name="TextBox 11">
            <a:extLst>
              <a:ext uri="{FF2B5EF4-FFF2-40B4-BE49-F238E27FC236}">
                <a16:creationId xmlns:a16="http://schemas.microsoft.com/office/drawing/2014/main" id="{1D63CBD8-B34E-EC93-5F8B-1CE2F9D7EA2C}"/>
              </a:ext>
            </a:extLst>
          </p:cNvPr>
          <p:cNvSpPr txBox="1"/>
          <p:nvPr/>
        </p:nvSpPr>
        <p:spPr>
          <a:xfrm>
            <a:off x="415723" y="3201230"/>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“We can always sell our software to our competitors”</a:t>
            </a:r>
          </a:p>
        </p:txBody>
      </p:sp>
      <p:sp>
        <p:nvSpPr>
          <p:cNvPr id="13" name="TextBox 12">
            <a:extLst>
              <a:ext uri="{FF2B5EF4-FFF2-40B4-BE49-F238E27FC236}">
                <a16:creationId xmlns:a16="http://schemas.microsoft.com/office/drawing/2014/main" id="{E293C301-E990-F310-77DB-1BCBA52AAD89}"/>
              </a:ext>
            </a:extLst>
          </p:cNvPr>
          <p:cNvSpPr txBox="1"/>
          <p:nvPr/>
        </p:nvSpPr>
        <p:spPr>
          <a:xfrm>
            <a:off x="415723" y="3667084"/>
            <a:ext cx="7905750" cy="400110"/>
          </a:xfrm>
          <a:prstGeom prst="rect">
            <a:avLst/>
          </a:prstGeom>
          <a:noFill/>
        </p:spPr>
        <p:txBody>
          <a:bodyPr wrap="square">
            <a:spAutoFit/>
          </a:bodyPr>
          <a:lstStyle/>
          <a:p>
            <a:pPr marL="342900" indent="-342900">
              <a:buFont typeface="Arial" panose="020B0604020202020204" pitchFamily="34" charset="0"/>
              <a:buChar char="•"/>
            </a:pPr>
            <a:r>
              <a:rPr lang="en-US" sz="2000" dirty="0"/>
              <a:t>“We get all those R&amp;D Tax Credits”</a:t>
            </a:r>
          </a:p>
        </p:txBody>
      </p:sp>
    </p:spTree>
    <p:extLst>
      <p:ext uri="{BB962C8B-B14F-4D97-AF65-F5344CB8AC3E}">
        <p14:creationId xmlns:p14="http://schemas.microsoft.com/office/powerpoint/2010/main" val="1888645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71D4910-F618-7EAC-4634-1CF5D5757495}"/>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D2AA9A86-2168-5FBE-2C98-6049D3A22B63}"/>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lvl="0"/>
            <a:r>
              <a:rPr lang="en-US" dirty="0"/>
              <a:t>Build the Edge</a:t>
            </a:r>
            <a:endParaRPr dirty="0"/>
          </a:p>
        </p:txBody>
      </p:sp>
      <p:grpSp>
        <p:nvGrpSpPr>
          <p:cNvPr id="2" name="Group 1">
            <a:extLst>
              <a:ext uri="{FF2B5EF4-FFF2-40B4-BE49-F238E27FC236}">
                <a16:creationId xmlns:a16="http://schemas.microsoft.com/office/drawing/2014/main" id="{A07DC07F-27CF-3BB9-A852-1B9A64A503C6}"/>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A4B2ECCE-0BDF-4587-A10B-56AAA1834DFB}"/>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66FBC174-4B81-70CE-5A90-8CA926579CE3}"/>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80A89F1-2E57-0C11-A419-390E8E93EE24}"/>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23" name="Google Shape;90;p16">
            <a:extLst>
              <a:ext uri="{FF2B5EF4-FFF2-40B4-BE49-F238E27FC236}">
                <a16:creationId xmlns:a16="http://schemas.microsoft.com/office/drawing/2014/main" id="{5986AEF9-67C5-A6BC-1960-75A181ECC850}"/>
              </a:ext>
            </a:extLst>
          </p:cNvPr>
          <p:cNvSpPr txBox="1">
            <a:spLocks/>
          </p:cNvSpPr>
          <p:nvPr/>
        </p:nvSpPr>
        <p:spPr>
          <a:xfrm>
            <a:off x="161038" y="130452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3200" b="1" dirty="0">
                <a:solidFill>
                  <a:schemeClr val="accent3">
                    <a:lumMod val="10000"/>
                  </a:schemeClr>
                </a:solidFill>
              </a:rPr>
              <a:t>Good Build Candidates</a:t>
            </a:r>
          </a:p>
        </p:txBody>
      </p:sp>
      <p:sp>
        <p:nvSpPr>
          <p:cNvPr id="25" name="TextBox 24">
            <a:extLst>
              <a:ext uri="{FF2B5EF4-FFF2-40B4-BE49-F238E27FC236}">
                <a16:creationId xmlns:a16="http://schemas.microsoft.com/office/drawing/2014/main" id="{7DC0DF5C-B81D-270F-2A12-9CDB112F6FF3}"/>
              </a:ext>
            </a:extLst>
          </p:cNvPr>
          <p:cNvSpPr txBox="1"/>
          <p:nvPr/>
        </p:nvSpPr>
        <p:spPr>
          <a:xfrm>
            <a:off x="415723" y="1882977"/>
            <a:ext cx="7905750" cy="2554545"/>
          </a:xfrm>
          <a:prstGeom prst="rect">
            <a:avLst/>
          </a:prstGeom>
          <a:noFill/>
        </p:spPr>
        <p:txBody>
          <a:bodyPr wrap="square">
            <a:spAutoFit/>
          </a:bodyPr>
          <a:lstStyle/>
          <a:p>
            <a:pPr marL="342900" indent="-342900">
              <a:buFont typeface="Arial" panose="020B0604020202020204" pitchFamily="34" charset="0"/>
              <a:buChar char="•"/>
            </a:pPr>
            <a:r>
              <a:rPr lang="en-US" sz="2000" dirty="0"/>
              <a:t>Customer portals</a:t>
            </a:r>
          </a:p>
          <a:p>
            <a:pPr marL="342900" indent="-342900">
              <a:buFont typeface="Arial" panose="020B0604020202020204" pitchFamily="34" charset="0"/>
              <a:buChar char="•"/>
            </a:pPr>
            <a:r>
              <a:rPr lang="en-US" sz="2000" dirty="0"/>
              <a:t>Exception workflows</a:t>
            </a:r>
          </a:p>
          <a:p>
            <a:pPr marL="342900" indent="-342900">
              <a:buFont typeface="Arial" panose="020B0604020202020204" pitchFamily="34" charset="0"/>
              <a:buChar char="•"/>
            </a:pPr>
            <a:r>
              <a:rPr lang="en-US" sz="2000" dirty="0"/>
              <a:t>Custom pricing or quoting logic</a:t>
            </a:r>
          </a:p>
          <a:p>
            <a:pPr marL="342900" indent="-342900">
              <a:buFont typeface="Arial" panose="020B0604020202020204" pitchFamily="34" charset="0"/>
              <a:buChar char="•"/>
            </a:pPr>
            <a:r>
              <a:rPr lang="en-US" sz="2000" dirty="0"/>
              <a:t>Operational dashboards</a:t>
            </a:r>
          </a:p>
          <a:p>
            <a:pPr marL="342900" indent="-342900">
              <a:buFont typeface="Arial" panose="020B0604020202020204" pitchFamily="34" charset="0"/>
              <a:buChar char="•"/>
            </a:pPr>
            <a:r>
              <a:rPr lang="en-US" sz="2000" dirty="0"/>
              <a:t>Client onboarding tools</a:t>
            </a:r>
          </a:p>
          <a:p>
            <a:pPr marL="342900" indent="-342900">
              <a:buFont typeface="Arial" panose="020B0604020202020204" pitchFamily="34" charset="0"/>
              <a:buChar char="•"/>
            </a:pPr>
            <a:r>
              <a:rPr lang="en-US" sz="2000" dirty="0"/>
              <a:t>Decision-support tools</a:t>
            </a:r>
          </a:p>
          <a:p>
            <a:pPr marL="342900" indent="-342900">
              <a:buFont typeface="Arial" panose="020B0604020202020204" pitchFamily="34" charset="0"/>
              <a:buChar char="•"/>
            </a:pPr>
            <a:r>
              <a:rPr lang="en-US" sz="2000" dirty="0"/>
              <a:t>Workflow automation</a:t>
            </a:r>
          </a:p>
          <a:p>
            <a:pPr marL="342900" indent="-342900">
              <a:buFont typeface="Arial" panose="020B0604020202020204" pitchFamily="34" charset="0"/>
              <a:buChar char="•"/>
            </a:pPr>
            <a:r>
              <a:rPr lang="en-US" sz="2000" dirty="0"/>
              <a:t>AI copilots around your business knowledge</a:t>
            </a:r>
          </a:p>
        </p:txBody>
      </p:sp>
      <p:grpSp>
        <p:nvGrpSpPr>
          <p:cNvPr id="30" name="Group 29">
            <a:extLst>
              <a:ext uri="{FF2B5EF4-FFF2-40B4-BE49-F238E27FC236}">
                <a16:creationId xmlns:a16="http://schemas.microsoft.com/office/drawing/2014/main" id="{253C2107-005D-6C8E-E233-6A009BD292AE}"/>
              </a:ext>
            </a:extLst>
          </p:cNvPr>
          <p:cNvGrpSpPr/>
          <p:nvPr/>
        </p:nvGrpSpPr>
        <p:grpSpPr>
          <a:xfrm>
            <a:off x="8026100" y="-32100"/>
            <a:ext cx="1597650" cy="1312348"/>
            <a:chOff x="8026100" y="-32100"/>
            <a:chExt cx="1597650" cy="1312348"/>
          </a:xfrm>
        </p:grpSpPr>
        <p:sp>
          <p:nvSpPr>
            <p:cNvPr id="31" name="Google Shape;125;p20">
              <a:extLst>
                <a:ext uri="{FF2B5EF4-FFF2-40B4-BE49-F238E27FC236}">
                  <a16:creationId xmlns:a16="http://schemas.microsoft.com/office/drawing/2014/main" id="{4FF43E2F-DA5D-C0C1-CB85-D2859DE04571}"/>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6;p20">
              <a:extLst>
                <a:ext uri="{FF2B5EF4-FFF2-40B4-BE49-F238E27FC236}">
                  <a16:creationId xmlns:a16="http://schemas.microsoft.com/office/drawing/2014/main" id="{4E507A5A-D0D0-FB32-5AAD-E84451FA3C1A}"/>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33" name="Google Shape;127;p20">
              <a:extLst>
                <a:ext uri="{FF2B5EF4-FFF2-40B4-BE49-F238E27FC236}">
                  <a16:creationId xmlns:a16="http://schemas.microsoft.com/office/drawing/2014/main" id="{DF5CAF6F-7AFC-411B-B789-87A2E3025BB1}"/>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Build</a:t>
              </a:r>
              <a:endParaRPr sz="700" b="1" dirty="0">
                <a:solidFill>
                  <a:srgbClr val="FB0201"/>
                </a:solidFill>
                <a:latin typeface="Roboto"/>
                <a:ea typeface="Roboto"/>
                <a:cs typeface="Roboto"/>
                <a:sym typeface="Roboto"/>
              </a:endParaRPr>
            </a:p>
          </p:txBody>
        </p:sp>
        <p:sp>
          <p:nvSpPr>
            <p:cNvPr id="34" name="Google Shape;128;p20">
              <a:extLst>
                <a:ext uri="{FF2B5EF4-FFF2-40B4-BE49-F238E27FC236}">
                  <a16:creationId xmlns:a16="http://schemas.microsoft.com/office/drawing/2014/main" id="{C3F317C8-1490-1E9F-7A5D-3189DCA83D8C}"/>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35" name="Google Shape;129;p20">
              <a:extLst>
                <a:ext uri="{FF2B5EF4-FFF2-40B4-BE49-F238E27FC236}">
                  <a16:creationId xmlns:a16="http://schemas.microsoft.com/office/drawing/2014/main" id="{932A3A1D-A6A9-6DC4-AEAD-90CB254E0956}"/>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36" name="Google Shape;130;p20">
              <a:extLst>
                <a:ext uri="{FF2B5EF4-FFF2-40B4-BE49-F238E27FC236}">
                  <a16:creationId xmlns:a16="http://schemas.microsoft.com/office/drawing/2014/main" id="{92BE9FDA-A071-A370-F482-E942FBB2ABFC}"/>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37" name="Google Shape;130;p20">
              <a:extLst>
                <a:ext uri="{FF2B5EF4-FFF2-40B4-BE49-F238E27FC236}">
                  <a16:creationId xmlns:a16="http://schemas.microsoft.com/office/drawing/2014/main" id="{7AEBF3B3-22C1-7A29-82C7-817AC874D4B7}"/>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38" name="Google Shape;130;p20">
              <a:extLst>
                <a:ext uri="{FF2B5EF4-FFF2-40B4-BE49-F238E27FC236}">
                  <a16:creationId xmlns:a16="http://schemas.microsoft.com/office/drawing/2014/main" id="{7FBA7649-4F64-3964-DD32-176B31701294}"/>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39" name="Google Shape;132;p20">
            <a:extLst>
              <a:ext uri="{FF2B5EF4-FFF2-40B4-BE49-F238E27FC236}">
                <a16:creationId xmlns:a16="http://schemas.microsoft.com/office/drawing/2014/main" id="{37EA2BAE-BF18-8F8E-3D12-5FAC008E26AC}"/>
              </a:ext>
            </a:extLst>
          </p:cNvPr>
          <p:cNvSpPr/>
          <p:nvPr/>
        </p:nvSpPr>
        <p:spPr>
          <a:xfrm rot="-12433">
            <a:off x="8068105" y="21664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74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07F0A19E-2549-584C-08EE-04735302958F}"/>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10C855E5-8002-0788-FCB4-327B20DADA06}"/>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lvl="0"/>
            <a:r>
              <a:rPr lang="en-US" dirty="0"/>
              <a:t>Build the Edge</a:t>
            </a:r>
            <a:endParaRPr dirty="0"/>
          </a:p>
        </p:txBody>
      </p:sp>
      <p:grpSp>
        <p:nvGrpSpPr>
          <p:cNvPr id="2" name="Group 1">
            <a:extLst>
              <a:ext uri="{FF2B5EF4-FFF2-40B4-BE49-F238E27FC236}">
                <a16:creationId xmlns:a16="http://schemas.microsoft.com/office/drawing/2014/main" id="{D7385904-D3F7-E013-08CD-B18FAFD1152B}"/>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168750F9-827B-8E54-EEFF-C251D4EB5144}"/>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9E2F2CFF-3AC1-1E8D-8E6F-12A4E2C13B7B}"/>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632FAD7-0DD2-4A00-7988-6DFBF511C24B}"/>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23" name="Google Shape;90;p16">
            <a:extLst>
              <a:ext uri="{FF2B5EF4-FFF2-40B4-BE49-F238E27FC236}">
                <a16:creationId xmlns:a16="http://schemas.microsoft.com/office/drawing/2014/main" id="{EDE572F1-7E55-A122-667B-A0A5072AAFBB}"/>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Build, only when you are prepared to own</a:t>
            </a:r>
          </a:p>
        </p:txBody>
      </p:sp>
      <p:sp>
        <p:nvSpPr>
          <p:cNvPr id="25" name="TextBox 24">
            <a:extLst>
              <a:ext uri="{FF2B5EF4-FFF2-40B4-BE49-F238E27FC236}">
                <a16:creationId xmlns:a16="http://schemas.microsoft.com/office/drawing/2014/main" id="{89D908BB-21BB-8952-FE45-1F0673FCDC2E}"/>
              </a:ext>
            </a:extLst>
          </p:cNvPr>
          <p:cNvSpPr txBox="1"/>
          <p:nvPr/>
        </p:nvSpPr>
        <p:spPr>
          <a:xfrm>
            <a:off x="415723" y="1777987"/>
            <a:ext cx="7905750" cy="2862322"/>
          </a:xfrm>
          <a:prstGeom prst="rect">
            <a:avLst/>
          </a:prstGeom>
          <a:noFill/>
        </p:spPr>
        <p:txBody>
          <a:bodyPr wrap="square">
            <a:spAutoFit/>
          </a:bodyPr>
          <a:lstStyle/>
          <a:p>
            <a:pPr marL="342900" indent="-342900">
              <a:buFont typeface="Arial" panose="020B0604020202020204" pitchFamily="34" charset="0"/>
              <a:buChar char="•"/>
            </a:pPr>
            <a:r>
              <a:rPr lang="en-US" sz="2000" dirty="0"/>
              <a:t>Maintenance</a:t>
            </a:r>
          </a:p>
          <a:p>
            <a:pPr marL="342900" indent="-342900">
              <a:buFont typeface="Arial" panose="020B0604020202020204" pitchFamily="34" charset="0"/>
              <a:buChar char="•"/>
            </a:pPr>
            <a:r>
              <a:rPr lang="en-US" sz="2000" dirty="0"/>
              <a:t>Support</a:t>
            </a:r>
          </a:p>
          <a:p>
            <a:pPr marL="342900" indent="-342900">
              <a:buFont typeface="Arial" panose="020B0604020202020204" pitchFamily="34" charset="0"/>
              <a:buChar char="•"/>
            </a:pPr>
            <a:r>
              <a:rPr lang="en-US" sz="2000" dirty="0"/>
              <a:t>Security</a:t>
            </a:r>
          </a:p>
          <a:p>
            <a:pPr marL="342900" indent="-342900">
              <a:buFont typeface="Arial" panose="020B0604020202020204" pitchFamily="34" charset="0"/>
              <a:buChar char="•"/>
            </a:pPr>
            <a:r>
              <a:rPr lang="en-US" sz="2000" dirty="0"/>
              <a:t>Testing</a:t>
            </a:r>
          </a:p>
          <a:p>
            <a:pPr marL="342900" indent="-342900">
              <a:buFont typeface="Arial" panose="020B0604020202020204" pitchFamily="34" charset="0"/>
              <a:buChar char="•"/>
            </a:pPr>
            <a:r>
              <a:rPr lang="en-US" sz="2000" dirty="0"/>
              <a:t>Documentation</a:t>
            </a:r>
          </a:p>
          <a:p>
            <a:pPr marL="342900" indent="-342900">
              <a:buFont typeface="Arial" panose="020B0604020202020204" pitchFamily="34" charset="0"/>
              <a:buChar char="•"/>
            </a:pPr>
            <a:r>
              <a:rPr lang="en-US" sz="2000" dirty="0"/>
              <a:t>Training</a:t>
            </a:r>
          </a:p>
          <a:p>
            <a:pPr marL="342900" indent="-342900">
              <a:buFont typeface="Arial" panose="020B0604020202020204" pitchFamily="34" charset="0"/>
              <a:buChar char="•"/>
            </a:pPr>
            <a:r>
              <a:rPr lang="en-US" sz="2000" dirty="0"/>
              <a:t>Integrations</a:t>
            </a:r>
          </a:p>
          <a:p>
            <a:pPr marL="342900" indent="-342900">
              <a:buFont typeface="Arial" panose="020B0604020202020204" pitchFamily="34" charset="0"/>
              <a:buChar char="•"/>
            </a:pPr>
            <a:r>
              <a:rPr lang="en-US" sz="2000" dirty="0"/>
              <a:t>Uptime</a:t>
            </a:r>
          </a:p>
          <a:p>
            <a:pPr marL="342900" indent="-342900">
              <a:buFont typeface="Arial" panose="020B0604020202020204" pitchFamily="34" charset="0"/>
              <a:buChar char="•"/>
            </a:pPr>
            <a:r>
              <a:rPr lang="en-US" sz="2000" dirty="0"/>
              <a:t>Future changes</a:t>
            </a:r>
          </a:p>
        </p:txBody>
      </p:sp>
      <p:grpSp>
        <p:nvGrpSpPr>
          <p:cNvPr id="9" name="Group 8">
            <a:extLst>
              <a:ext uri="{FF2B5EF4-FFF2-40B4-BE49-F238E27FC236}">
                <a16:creationId xmlns:a16="http://schemas.microsoft.com/office/drawing/2014/main" id="{2070118F-1A23-9D77-3CC9-3F2DD1F8FBEC}"/>
              </a:ext>
            </a:extLst>
          </p:cNvPr>
          <p:cNvGrpSpPr/>
          <p:nvPr/>
        </p:nvGrpSpPr>
        <p:grpSpPr>
          <a:xfrm>
            <a:off x="8026100" y="-32100"/>
            <a:ext cx="1597650" cy="1312348"/>
            <a:chOff x="8026100" y="-32100"/>
            <a:chExt cx="1597650" cy="1312348"/>
          </a:xfrm>
        </p:grpSpPr>
        <p:sp>
          <p:nvSpPr>
            <p:cNvPr id="10" name="Google Shape;125;p20">
              <a:extLst>
                <a:ext uri="{FF2B5EF4-FFF2-40B4-BE49-F238E27FC236}">
                  <a16:creationId xmlns:a16="http://schemas.microsoft.com/office/drawing/2014/main" id="{E8F1EC8C-8D55-80B2-E73F-A8FF4001E135}"/>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6;p20">
              <a:extLst>
                <a:ext uri="{FF2B5EF4-FFF2-40B4-BE49-F238E27FC236}">
                  <a16:creationId xmlns:a16="http://schemas.microsoft.com/office/drawing/2014/main" id="{6A7379E4-FA0C-CBC0-A02D-7B5D5E98DBC1}"/>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20" name="Google Shape;127;p20">
              <a:extLst>
                <a:ext uri="{FF2B5EF4-FFF2-40B4-BE49-F238E27FC236}">
                  <a16:creationId xmlns:a16="http://schemas.microsoft.com/office/drawing/2014/main" id="{CA3876D3-5CF9-1AAC-87FC-593B2015FFA1}"/>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Build</a:t>
              </a:r>
              <a:endParaRPr sz="700" b="1" dirty="0">
                <a:solidFill>
                  <a:srgbClr val="FB0201"/>
                </a:solidFill>
                <a:latin typeface="Roboto"/>
                <a:ea typeface="Roboto"/>
                <a:cs typeface="Roboto"/>
                <a:sym typeface="Roboto"/>
              </a:endParaRPr>
            </a:p>
          </p:txBody>
        </p:sp>
        <p:sp>
          <p:nvSpPr>
            <p:cNvPr id="21" name="Google Shape;128;p20">
              <a:extLst>
                <a:ext uri="{FF2B5EF4-FFF2-40B4-BE49-F238E27FC236}">
                  <a16:creationId xmlns:a16="http://schemas.microsoft.com/office/drawing/2014/main" id="{F04A12B6-D3C7-2695-9137-B179F0EEBD49}"/>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26" name="Google Shape;129;p20">
              <a:extLst>
                <a:ext uri="{FF2B5EF4-FFF2-40B4-BE49-F238E27FC236}">
                  <a16:creationId xmlns:a16="http://schemas.microsoft.com/office/drawing/2014/main" id="{A95E2B94-BAA1-F6FD-5AA5-73D0BF685B38}"/>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27" name="Google Shape;130;p20">
              <a:extLst>
                <a:ext uri="{FF2B5EF4-FFF2-40B4-BE49-F238E27FC236}">
                  <a16:creationId xmlns:a16="http://schemas.microsoft.com/office/drawing/2014/main" id="{D2A0A02C-8D20-9394-37C7-A639DF718A74}"/>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28" name="Google Shape;130;p20">
              <a:extLst>
                <a:ext uri="{FF2B5EF4-FFF2-40B4-BE49-F238E27FC236}">
                  <a16:creationId xmlns:a16="http://schemas.microsoft.com/office/drawing/2014/main" id="{76E3811E-F777-5C3C-0054-3A658614C645}"/>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9" name="Google Shape;130;p20">
              <a:extLst>
                <a:ext uri="{FF2B5EF4-FFF2-40B4-BE49-F238E27FC236}">
                  <a16:creationId xmlns:a16="http://schemas.microsoft.com/office/drawing/2014/main" id="{1B7937D2-804D-A611-77A3-DE495A92FF14}"/>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30" name="Google Shape;132;p20">
            <a:extLst>
              <a:ext uri="{FF2B5EF4-FFF2-40B4-BE49-F238E27FC236}">
                <a16:creationId xmlns:a16="http://schemas.microsoft.com/office/drawing/2014/main" id="{BB8B47AC-6243-667F-E7FE-9CC56C9F1038}"/>
              </a:ext>
            </a:extLst>
          </p:cNvPr>
          <p:cNvSpPr/>
          <p:nvPr/>
        </p:nvSpPr>
        <p:spPr>
          <a:xfrm rot="-12433">
            <a:off x="8068105" y="21664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890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3AB96FBC-6B06-8E71-3007-B98999D8428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6D0A7DA7-6FD5-F803-9CAF-73360CC93B95}"/>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2C351713-B17E-6599-3092-59BCDD0F591B}"/>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7D151903-7507-7642-B9F5-A011CE4D7473}"/>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8A8EAFAB-754C-5A3B-4979-E09C4257A54E}"/>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C2E1B8CC-657E-B1A2-FBFD-3C5A58610310}"/>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rgbClr val="FB0201"/>
                  </a:solidFill>
                  <a:latin typeface="Roboto"/>
                  <a:ea typeface="Roboto"/>
                  <a:cs typeface="Roboto"/>
                  <a:sym typeface="Roboto"/>
                </a:rPr>
                <a:t>Stitch</a:t>
              </a:r>
              <a:endParaRPr sz="700" b="1" dirty="0">
                <a:solidFill>
                  <a:srgbClr val="FB0201"/>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5AEC05E8-CE04-30E1-8105-14450F0822F9}"/>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94C98B03-8A40-A62D-4E78-BC636F8582FE}"/>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1131D446-6DA4-D6C1-C40A-AD5928B923C9}"/>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FA52FBBC-265C-1C72-DA00-4010A0A8137E}"/>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B98BCEB7-3249-27EE-8991-999C5848E896}"/>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Stitch Together Solutions</a:t>
            </a:r>
            <a:endParaRPr dirty="0"/>
          </a:p>
        </p:txBody>
      </p:sp>
      <p:grpSp>
        <p:nvGrpSpPr>
          <p:cNvPr id="2" name="Group 1">
            <a:extLst>
              <a:ext uri="{FF2B5EF4-FFF2-40B4-BE49-F238E27FC236}">
                <a16:creationId xmlns:a16="http://schemas.microsoft.com/office/drawing/2014/main" id="{DF0C052B-6450-FCFB-55DB-8EE0F6D38649}"/>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15FB9B3D-9D30-F217-00B5-3E3091A411CE}"/>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7584F5D1-0780-BAAC-F642-304DF7BFC425}"/>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E27B657-08F9-BB6D-76D3-B57D58A0E8D0}"/>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6D6A3B37-7728-6CB9-34F5-DB879960EAB3}"/>
              </a:ext>
            </a:extLst>
          </p:cNvPr>
          <p:cNvSpPr/>
          <p:nvPr/>
        </p:nvSpPr>
        <p:spPr>
          <a:xfrm rot="-12433">
            <a:off x="8068105" y="37856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0;p16">
            <a:extLst>
              <a:ext uri="{FF2B5EF4-FFF2-40B4-BE49-F238E27FC236}">
                <a16:creationId xmlns:a16="http://schemas.microsoft.com/office/drawing/2014/main" id="{D7B9C61D-1005-DC6D-90A2-800F296C13BD}"/>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Hybrid solutions are often the right answer</a:t>
            </a:r>
          </a:p>
        </p:txBody>
      </p:sp>
      <p:sp>
        <p:nvSpPr>
          <p:cNvPr id="9" name="Google Shape;90;p16">
            <a:extLst>
              <a:ext uri="{FF2B5EF4-FFF2-40B4-BE49-F238E27FC236}">
                <a16:creationId xmlns:a16="http://schemas.microsoft.com/office/drawing/2014/main" id="{D9465F6F-E2AD-4CA0-F045-FADA80A69F1F}"/>
              </a:ext>
            </a:extLst>
          </p:cNvPr>
          <p:cNvSpPr txBox="1">
            <a:spLocks/>
          </p:cNvSpPr>
          <p:nvPr/>
        </p:nvSpPr>
        <p:spPr>
          <a:xfrm>
            <a:off x="768294" y="182605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rgbClr val="70060E"/>
                </a:solidFill>
              </a:rPr>
              <a:t>Buy</a:t>
            </a:r>
            <a:r>
              <a:rPr lang="en-US" sz="2800" b="1" dirty="0">
                <a:solidFill>
                  <a:schemeClr val="accent3">
                    <a:lumMod val="10000"/>
                  </a:schemeClr>
                </a:solidFill>
              </a:rPr>
              <a:t> the platform(s)</a:t>
            </a:r>
          </a:p>
        </p:txBody>
      </p:sp>
      <p:sp>
        <p:nvSpPr>
          <p:cNvPr id="10" name="Google Shape;90;p16">
            <a:extLst>
              <a:ext uri="{FF2B5EF4-FFF2-40B4-BE49-F238E27FC236}">
                <a16:creationId xmlns:a16="http://schemas.microsoft.com/office/drawing/2014/main" id="{8B10D635-677B-3C31-73AB-D14D74A68BB2}"/>
              </a:ext>
            </a:extLst>
          </p:cNvPr>
          <p:cNvSpPr txBox="1">
            <a:spLocks/>
          </p:cNvSpPr>
          <p:nvPr/>
        </p:nvSpPr>
        <p:spPr>
          <a:xfrm>
            <a:off x="783289" y="2517207"/>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rgbClr val="70060E"/>
                </a:solidFill>
              </a:rPr>
              <a:t>Build</a:t>
            </a:r>
            <a:r>
              <a:rPr lang="en-US" sz="2800" b="1" dirty="0">
                <a:solidFill>
                  <a:schemeClr val="accent3">
                    <a:lumMod val="10000"/>
                  </a:schemeClr>
                </a:solidFill>
              </a:rPr>
              <a:t> your edge</a:t>
            </a:r>
          </a:p>
        </p:txBody>
      </p:sp>
      <p:sp>
        <p:nvSpPr>
          <p:cNvPr id="18" name="Google Shape;90;p16">
            <a:extLst>
              <a:ext uri="{FF2B5EF4-FFF2-40B4-BE49-F238E27FC236}">
                <a16:creationId xmlns:a16="http://schemas.microsoft.com/office/drawing/2014/main" id="{D7BA1C67-C600-9AB0-010E-931C64E7CB9A}"/>
              </a:ext>
            </a:extLst>
          </p:cNvPr>
          <p:cNvSpPr txBox="1">
            <a:spLocks/>
          </p:cNvSpPr>
          <p:nvPr/>
        </p:nvSpPr>
        <p:spPr>
          <a:xfrm>
            <a:off x="783289" y="3168835"/>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rgbClr val="70060E"/>
                </a:solidFill>
              </a:rPr>
              <a:t>Build</a:t>
            </a:r>
            <a:r>
              <a:rPr lang="en-US" sz="2800" b="1" dirty="0">
                <a:solidFill>
                  <a:schemeClr val="accent3">
                    <a:lumMod val="10000"/>
                  </a:schemeClr>
                </a:solidFill>
              </a:rPr>
              <a:t> the integrations</a:t>
            </a:r>
          </a:p>
        </p:txBody>
      </p:sp>
    </p:spTree>
    <p:extLst>
      <p:ext uri="{BB962C8B-B14F-4D97-AF65-F5344CB8AC3E}">
        <p14:creationId xmlns:p14="http://schemas.microsoft.com/office/powerpoint/2010/main" val="277077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6DB2ED2-AE23-9BE9-665B-65AE3DE6C6B8}"/>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BDBF4E91-8D59-709E-6B48-19543192356E}"/>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58432A38-4B3D-239D-A0FE-0C1469684681}"/>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B6B6AEF8-E27C-7445-C73F-E18B7870C246}"/>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CB383499-505F-DF70-FA38-F88D22A5961E}"/>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411B1A0B-717E-ACA2-08EB-C343E7212FEF}"/>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rgbClr val="FB0201"/>
                  </a:solidFill>
                  <a:latin typeface="Roboto"/>
                  <a:ea typeface="Roboto"/>
                  <a:cs typeface="Roboto"/>
                  <a:sym typeface="Roboto"/>
                </a:rPr>
                <a:t>Stitch</a:t>
              </a:r>
              <a:endParaRPr sz="700" b="1" dirty="0">
                <a:solidFill>
                  <a:srgbClr val="FB0201"/>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9B60AB44-FDAF-34D9-7994-7799881EB28E}"/>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C3C1D7CE-5BD0-18D6-A3CA-27CA82B051C6}"/>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999BB459-21E1-942E-3703-FEC7EAC0A989}"/>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68D957FD-8DD8-A827-F494-293F44D9C2D7}"/>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220A640E-F2AD-4A50-B39B-E902898B25D6}"/>
              </a:ext>
            </a:extLst>
          </p:cNvPr>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Stitch Together Solutions</a:t>
            </a:r>
            <a:endParaRPr dirty="0"/>
          </a:p>
        </p:txBody>
      </p:sp>
      <p:grpSp>
        <p:nvGrpSpPr>
          <p:cNvPr id="2" name="Group 1">
            <a:extLst>
              <a:ext uri="{FF2B5EF4-FFF2-40B4-BE49-F238E27FC236}">
                <a16:creationId xmlns:a16="http://schemas.microsoft.com/office/drawing/2014/main" id="{79188A90-4AA1-9126-9502-18426E58CC88}"/>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CAC85B79-95B9-107C-28E1-45113D1049B7}"/>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2CFFA751-47B3-1459-9EAA-257226465A3C}"/>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DA6D4C8-A944-A051-2EF7-FED8A1F1DAAE}"/>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C209501E-CAA4-BD93-F35E-474CF4049BA1}"/>
              </a:ext>
            </a:extLst>
          </p:cNvPr>
          <p:cNvSpPr/>
          <p:nvPr/>
        </p:nvSpPr>
        <p:spPr>
          <a:xfrm rot="-12433">
            <a:off x="8068105" y="37856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5D6023E6-2711-DB0D-5F52-125D88375AFE}"/>
              </a:ext>
            </a:extLst>
          </p:cNvPr>
          <p:cNvPicPr>
            <a:picLocks noChangeAspect="1"/>
          </p:cNvPicPr>
          <p:nvPr/>
        </p:nvPicPr>
        <p:blipFill>
          <a:blip r:embed="rId4"/>
          <a:stretch>
            <a:fillRect/>
          </a:stretch>
        </p:blipFill>
        <p:spPr>
          <a:xfrm>
            <a:off x="1788381" y="1282438"/>
            <a:ext cx="5126769" cy="3644194"/>
          </a:xfrm>
          <a:prstGeom prst="rect">
            <a:avLst/>
          </a:prstGeom>
        </p:spPr>
      </p:pic>
    </p:spTree>
    <p:extLst>
      <p:ext uri="{BB962C8B-B14F-4D97-AF65-F5344CB8AC3E}">
        <p14:creationId xmlns:p14="http://schemas.microsoft.com/office/powerpoint/2010/main" val="3724747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34C34D1-B638-B9AE-6286-2E86C6C72D9F}"/>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582FB9DB-1325-E868-8B5D-8491FBA69EC8}"/>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D57FD37A-1EDD-7225-64B5-4E77BB0B17E3}"/>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D527D28A-3803-EDE4-4B50-22A6EBD7343C}"/>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553FF14C-14B9-5D52-2C62-DA06D5E1D520}"/>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FBB26DDF-36E3-0BC0-5517-4EE6529B47F5}"/>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0E59EFD3-A349-CC5B-3381-44D24B088C56}"/>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864F6729-19FC-BF4D-40A7-FCCAC589DC84}"/>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1539B4BC-D364-9AC7-17E0-90DD2D49ABAD}"/>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ABD2274C-8C9E-F8C0-E850-5812986889DD}"/>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9406E9B4-7FEA-4245-EF46-9000B3B76561}"/>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93FC382C-B6BE-3327-1164-3BA2A6FF0535}"/>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D11A0856-69B0-E20C-CA26-87ABA8BDDCE6}"/>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9D5990CB-A1BB-01F6-A730-540B7C0CB596}"/>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12E71FF-1586-47E1-1257-730836059EEA}"/>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7F4BEED8-CA7C-F2D4-CDCB-2AA0824D2023}"/>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14110638-0A5E-57F6-42EC-5BCE1BA99A9A}"/>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My Definition</a:t>
            </a:r>
          </a:p>
        </p:txBody>
      </p:sp>
      <p:sp>
        <p:nvSpPr>
          <p:cNvPr id="8" name="Google Shape;90;p16">
            <a:extLst>
              <a:ext uri="{FF2B5EF4-FFF2-40B4-BE49-F238E27FC236}">
                <a16:creationId xmlns:a16="http://schemas.microsoft.com/office/drawing/2014/main" id="{46027BB8-46B3-E524-F0AC-C5BF779EA8F0}"/>
              </a:ext>
            </a:extLst>
          </p:cNvPr>
          <p:cNvSpPr txBox="1">
            <a:spLocks/>
          </p:cNvSpPr>
          <p:nvPr/>
        </p:nvSpPr>
        <p:spPr>
          <a:xfrm>
            <a:off x="768294" y="1722166"/>
            <a:ext cx="7906314"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Building systems, integrations, or automated software tools using AI assisted tools and</a:t>
            </a:r>
          </a:p>
          <a:p>
            <a:pPr marL="146050" indent="0">
              <a:buNone/>
            </a:pPr>
            <a:r>
              <a:rPr lang="en-US" sz="2800" b="1" dirty="0">
                <a:solidFill>
                  <a:srgbClr val="70060E"/>
                </a:solidFill>
              </a:rPr>
              <a:t>having</a:t>
            </a:r>
            <a:r>
              <a:rPr lang="en-US" sz="2800" b="1" dirty="0">
                <a:solidFill>
                  <a:schemeClr val="accent3">
                    <a:lumMod val="10000"/>
                  </a:schemeClr>
                </a:solidFill>
              </a:rPr>
              <a:t> </a:t>
            </a:r>
            <a:r>
              <a:rPr lang="en-US" sz="2800" b="1" dirty="0">
                <a:solidFill>
                  <a:srgbClr val="70060E"/>
                </a:solidFill>
              </a:rPr>
              <a:t>no concern </a:t>
            </a:r>
            <a:r>
              <a:rPr lang="en-US" sz="2800" b="1" dirty="0">
                <a:solidFill>
                  <a:schemeClr val="accent3">
                    <a:lumMod val="10000"/>
                  </a:schemeClr>
                </a:solidFill>
              </a:rPr>
              <a:t>for </a:t>
            </a:r>
          </a:p>
          <a:p>
            <a:r>
              <a:rPr lang="en-US" sz="2800" b="1" dirty="0">
                <a:solidFill>
                  <a:schemeClr val="accent3">
                    <a:lumMod val="10000"/>
                  </a:schemeClr>
                </a:solidFill>
              </a:rPr>
              <a:t>What code was written</a:t>
            </a:r>
          </a:p>
          <a:p>
            <a:r>
              <a:rPr lang="en-US" sz="2800" b="1" dirty="0">
                <a:solidFill>
                  <a:schemeClr val="accent3">
                    <a:lumMod val="10000"/>
                  </a:schemeClr>
                </a:solidFill>
              </a:rPr>
              <a:t>How it works</a:t>
            </a:r>
          </a:p>
          <a:p>
            <a:r>
              <a:rPr lang="en-US" sz="2800" b="1" dirty="0">
                <a:solidFill>
                  <a:schemeClr val="accent3">
                    <a:lumMod val="10000"/>
                  </a:schemeClr>
                </a:solidFill>
              </a:rPr>
              <a:t>What Its limitations are</a:t>
            </a:r>
          </a:p>
        </p:txBody>
      </p:sp>
    </p:spTree>
    <p:extLst>
      <p:ext uri="{BB962C8B-B14F-4D97-AF65-F5344CB8AC3E}">
        <p14:creationId xmlns:p14="http://schemas.microsoft.com/office/powerpoint/2010/main" val="288546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68DBCE0-D8A6-FE6C-E86B-9F2555ABE0EF}"/>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37FEC439-D98E-5071-1698-4F4F5F91D2B4}"/>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26A7614B-AF14-3692-8D8E-842F4C37FE91}"/>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04A138E2-3FD6-AB20-3220-E5A2BCB3EEAA}"/>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24554D62-779F-53A7-F04C-B9848D379983}"/>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A9FB15C0-BDC3-E975-A40D-D243398CD486}"/>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50F80C39-5FEE-6CC8-B1D6-E3A37FB9C615}"/>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6E73855F-A97D-4109-60FD-544DBDAC7344}"/>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7BF3C776-80D8-3418-D083-03FA5E12FC71}"/>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078C1CE0-1AD1-DE25-BB61-9789C3915FBA}"/>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A7D60901-CE18-D6A0-846F-044C601F39B9}"/>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DE5C3AC7-774A-873D-3F15-C24FE3843560}"/>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D9CB9487-3D13-8E31-7E75-B5D086689B64}"/>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D83B4DD0-1F20-63F8-8B94-29B588373C23}"/>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63B29F-67B4-948F-2C24-5F962DCA8ADE}"/>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9DE5452C-1174-4E5B-921D-F6B052C5AFB6}"/>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AC73EF6D-71A4-B80F-76D5-4A565B64B0C4}"/>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Let’s Differentiate</a:t>
            </a:r>
          </a:p>
        </p:txBody>
      </p:sp>
      <p:sp>
        <p:nvSpPr>
          <p:cNvPr id="8" name="Google Shape;90;p16">
            <a:extLst>
              <a:ext uri="{FF2B5EF4-FFF2-40B4-BE49-F238E27FC236}">
                <a16:creationId xmlns:a16="http://schemas.microsoft.com/office/drawing/2014/main" id="{E62F7296-DEF5-6B97-8933-3EAB8087CD75}"/>
              </a:ext>
            </a:extLst>
          </p:cNvPr>
          <p:cNvSpPr txBox="1">
            <a:spLocks/>
          </p:cNvSpPr>
          <p:nvPr/>
        </p:nvSpPr>
        <p:spPr>
          <a:xfrm>
            <a:off x="414528" y="1917025"/>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Vibe Coding </a:t>
            </a:r>
            <a:r>
              <a:rPr lang="en-US" sz="2800" b="1" dirty="0">
                <a:solidFill>
                  <a:srgbClr val="70060E"/>
                </a:solidFill>
              </a:rPr>
              <a:t>&lt;&gt;</a:t>
            </a:r>
            <a:r>
              <a:rPr lang="en-US" sz="2800" b="1" dirty="0">
                <a:solidFill>
                  <a:schemeClr val="accent3">
                    <a:lumMod val="10000"/>
                  </a:schemeClr>
                </a:solidFill>
              </a:rPr>
              <a:t> AI Assisted Software Development</a:t>
            </a:r>
          </a:p>
        </p:txBody>
      </p:sp>
      <p:sp>
        <p:nvSpPr>
          <p:cNvPr id="7" name="Google Shape;90;p16">
            <a:extLst>
              <a:ext uri="{FF2B5EF4-FFF2-40B4-BE49-F238E27FC236}">
                <a16:creationId xmlns:a16="http://schemas.microsoft.com/office/drawing/2014/main" id="{B5EC2F53-5C23-88DD-A7DF-8E0697EC6CFB}"/>
              </a:ext>
            </a:extLst>
          </p:cNvPr>
          <p:cNvSpPr txBox="1">
            <a:spLocks/>
          </p:cNvSpPr>
          <p:nvPr/>
        </p:nvSpPr>
        <p:spPr>
          <a:xfrm>
            <a:off x="414528" y="2540725"/>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Use the </a:t>
            </a:r>
            <a:r>
              <a:rPr lang="en-US" sz="2800" b="1" dirty="0">
                <a:solidFill>
                  <a:srgbClr val="70060E"/>
                </a:solidFill>
              </a:rPr>
              <a:t>Pareto Principal (80/20 Rule) </a:t>
            </a:r>
            <a:r>
              <a:rPr lang="en-US" sz="2800" b="1" dirty="0">
                <a:solidFill>
                  <a:schemeClr val="accent3">
                    <a:lumMod val="10000"/>
                  </a:schemeClr>
                </a:solidFill>
              </a:rPr>
              <a:t>to decide the difference</a:t>
            </a:r>
          </a:p>
        </p:txBody>
      </p:sp>
    </p:spTree>
    <p:extLst>
      <p:ext uri="{BB962C8B-B14F-4D97-AF65-F5344CB8AC3E}">
        <p14:creationId xmlns:p14="http://schemas.microsoft.com/office/powerpoint/2010/main" val="38879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9A3E730C-0CAA-5517-A26A-FCA893CEA988}"/>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57516EA8-1BE2-9599-25AD-209B63709A69}"/>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6848AA56-B306-E477-EB32-3DA82AA98567}"/>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B6540F77-9ED0-27B9-912A-BC7B7E962FB7}"/>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5BE388E9-F2E6-FEC0-373E-3BDB26F3E4CE}"/>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E2BB9047-E948-5796-D9FC-9BF7A4648E41}"/>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90494E8E-102E-5C1E-6C4E-5C57201F42B7}"/>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6E9FA3C3-3E35-B0D2-4806-92197CEF1761}"/>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2FFFEC69-56E2-17FB-E46A-3630DE0E7C5A}"/>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12F1A757-6C84-924F-22A1-D4D7F4D5BB11}"/>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21357FE8-C2A4-89B8-4465-38D16BA2B32A}"/>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82E1672B-43B8-086B-69AC-05D3D5693529}"/>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BA328161-BD89-E8E1-FD34-74FEE95E56EE}"/>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D452B59B-04CB-67EC-EE66-BAC1634E301D}"/>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F8AA665-9742-9680-62D5-0A58B12B64AE}"/>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2D0B45E0-5F2D-F863-68F1-FF8BD26BA42C}"/>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8501B042-E055-7B08-9556-B0995DC4CE2E}"/>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80/20 Rule</a:t>
            </a:r>
          </a:p>
        </p:txBody>
      </p:sp>
      <p:sp>
        <p:nvSpPr>
          <p:cNvPr id="8" name="Google Shape;90;p16">
            <a:extLst>
              <a:ext uri="{FF2B5EF4-FFF2-40B4-BE49-F238E27FC236}">
                <a16:creationId xmlns:a16="http://schemas.microsoft.com/office/drawing/2014/main" id="{AC9E2411-B1A5-AB9F-F478-FB249069377D}"/>
              </a:ext>
            </a:extLst>
          </p:cNvPr>
          <p:cNvSpPr txBox="1">
            <a:spLocks/>
          </p:cNvSpPr>
          <p:nvPr/>
        </p:nvSpPr>
        <p:spPr>
          <a:xfrm>
            <a:off x="414527" y="3348210"/>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80 % Human Thinking / 20 % AI Assisted</a:t>
            </a:r>
          </a:p>
        </p:txBody>
      </p:sp>
      <p:sp>
        <p:nvSpPr>
          <p:cNvPr id="10" name="Google Shape;90;p16">
            <a:extLst>
              <a:ext uri="{FF2B5EF4-FFF2-40B4-BE49-F238E27FC236}">
                <a16:creationId xmlns:a16="http://schemas.microsoft.com/office/drawing/2014/main" id="{B9469432-EBB5-2885-3DD0-810A34A24114}"/>
              </a:ext>
            </a:extLst>
          </p:cNvPr>
          <p:cNvSpPr txBox="1">
            <a:spLocks/>
          </p:cNvSpPr>
          <p:nvPr/>
        </p:nvSpPr>
        <p:spPr>
          <a:xfrm>
            <a:off x="463295" y="2203394"/>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20 % Human Thinking / 80 % AI Assisted</a:t>
            </a:r>
          </a:p>
        </p:txBody>
      </p:sp>
      <p:sp>
        <p:nvSpPr>
          <p:cNvPr id="20" name="Google Shape;90;p16">
            <a:extLst>
              <a:ext uri="{FF2B5EF4-FFF2-40B4-BE49-F238E27FC236}">
                <a16:creationId xmlns:a16="http://schemas.microsoft.com/office/drawing/2014/main" id="{C299DB51-ED93-8F62-BD90-C8AF4D2046B4}"/>
              </a:ext>
            </a:extLst>
          </p:cNvPr>
          <p:cNvSpPr txBox="1">
            <a:spLocks/>
          </p:cNvSpPr>
          <p:nvPr/>
        </p:nvSpPr>
        <p:spPr>
          <a:xfrm>
            <a:off x="352617" y="2805050"/>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rgbClr val="70060E"/>
                </a:solidFill>
              </a:rPr>
              <a:t>AI Assisted Software Development</a:t>
            </a:r>
          </a:p>
        </p:txBody>
      </p:sp>
      <p:sp>
        <p:nvSpPr>
          <p:cNvPr id="21" name="Google Shape;90;p16">
            <a:extLst>
              <a:ext uri="{FF2B5EF4-FFF2-40B4-BE49-F238E27FC236}">
                <a16:creationId xmlns:a16="http://schemas.microsoft.com/office/drawing/2014/main" id="{ABAE1295-1E04-2E4C-D629-E7FE7E9B03C8}"/>
              </a:ext>
            </a:extLst>
          </p:cNvPr>
          <p:cNvSpPr txBox="1">
            <a:spLocks/>
          </p:cNvSpPr>
          <p:nvPr/>
        </p:nvSpPr>
        <p:spPr>
          <a:xfrm>
            <a:off x="360493" y="1668536"/>
            <a:ext cx="8542283"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rgbClr val="70060E"/>
                </a:solidFill>
              </a:rPr>
              <a:t>Vibe Coding</a:t>
            </a:r>
          </a:p>
        </p:txBody>
      </p:sp>
    </p:spTree>
    <p:extLst>
      <p:ext uri="{BB962C8B-B14F-4D97-AF65-F5344CB8AC3E}">
        <p14:creationId xmlns:p14="http://schemas.microsoft.com/office/powerpoint/2010/main" val="99333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20"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D490BE5-BB20-366C-9D5B-2A1F46DF8651}"/>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466E1ED8-C2BA-28F5-5016-1DDAE630304A}"/>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68F52BC8-CD32-58C9-F717-487C42B15C0B}"/>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E129C4AE-11B1-6C56-1517-79FA89D75374}"/>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8C54F54A-5341-A18B-0017-5EF62DF86634}"/>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4503C867-3220-139F-68FA-A5A4001ADE55}"/>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50D4125B-D0F3-49F1-738F-BB43A5DC8522}"/>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3614C1C1-FAD2-EE1D-5F3A-FA5A9D968C01}"/>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3343C684-D095-698C-5D32-6E2675B2B8A4}"/>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15340BA5-D869-DA03-5824-CEA780F2306A}"/>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E32A45E1-8D19-451F-BF83-D6FD04EC8DA3}"/>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AC5E7209-82C5-3909-F7FB-E8388F56A79B}"/>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157AC96F-8D94-9E1C-B260-15E22424EC29}"/>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70D50B88-6BEA-21FB-3F31-4DC15D886E15}"/>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A314E0B-A496-6D7A-441A-A03FD11C38B9}"/>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703B150E-0B7C-4302-6F41-F549B27FF3B6}"/>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1963C805-6F95-5F78-6B69-44D618F56130}"/>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An Analogy: </a:t>
            </a:r>
            <a:r>
              <a:rPr lang="en-US" sz="2800" b="1" dirty="0">
                <a:solidFill>
                  <a:srgbClr val="70060E"/>
                </a:solidFill>
              </a:rPr>
              <a:t>GPS</a:t>
            </a:r>
          </a:p>
        </p:txBody>
      </p:sp>
      <p:sp>
        <p:nvSpPr>
          <p:cNvPr id="7" name="Google Shape;90;p16">
            <a:extLst>
              <a:ext uri="{FF2B5EF4-FFF2-40B4-BE49-F238E27FC236}">
                <a16:creationId xmlns:a16="http://schemas.microsoft.com/office/drawing/2014/main" id="{A0E47E9A-81DB-23AC-2627-9DED1D06E33C}"/>
              </a:ext>
            </a:extLst>
          </p:cNvPr>
          <p:cNvSpPr txBox="1">
            <a:spLocks/>
          </p:cNvSpPr>
          <p:nvPr/>
        </p:nvSpPr>
        <p:spPr>
          <a:xfrm>
            <a:off x="532745" y="1752333"/>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Google Maps is to </a:t>
            </a:r>
            <a:r>
              <a:rPr lang="en-US" sz="2800" b="1" dirty="0">
                <a:solidFill>
                  <a:srgbClr val="70060E"/>
                </a:solidFill>
              </a:rPr>
              <a:t>geo-navigators</a:t>
            </a:r>
          </a:p>
          <a:p>
            <a:pPr marL="146050" indent="0">
              <a:buNone/>
            </a:pPr>
            <a:r>
              <a:rPr lang="en-US" sz="2800" b="1" dirty="0">
                <a:solidFill>
                  <a:schemeClr val="accent3">
                    <a:lumMod val="10000"/>
                  </a:schemeClr>
                </a:solidFill>
              </a:rPr>
              <a:t>	</a:t>
            </a:r>
            <a:r>
              <a:rPr lang="en-US" sz="2800" b="1" dirty="0">
                <a:solidFill>
                  <a:srgbClr val="70060E"/>
                </a:solidFill>
              </a:rPr>
              <a:t>as</a:t>
            </a:r>
            <a:r>
              <a:rPr lang="en-US" sz="2800" b="1" dirty="0">
                <a:solidFill>
                  <a:schemeClr val="accent3">
                    <a:lumMod val="10000"/>
                  </a:schemeClr>
                </a:solidFill>
              </a:rPr>
              <a:t> LLMs are to </a:t>
            </a:r>
            <a:r>
              <a:rPr lang="en-US" sz="2800" b="1" dirty="0">
                <a:solidFill>
                  <a:srgbClr val="70060E"/>
                </a:solidFill>
              </a:rPr>
              <a:t>software navigators</a:t>
            </a:r>
          </a:p>
        </p:txBody>
      </p:sp>
    </p:spTree>
    <p:extLst>
      <p:ext uri="{BB962C8B-B14F-4D97-AF65-F5344CB8AC3E}">
        <p14:creationId xmlns:p14="http://schemas.microsoft.com/office/powerpoint/2010/main" val="39305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A0607102-D1A5-6137-AFAD-89F3F01E6E3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F1690D54-B80B-84C1-7D4C-99D3F3C3BD88}"/>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9C0E0764-18D9-B1AA-A9F3-C8A18A26C4C4}"/>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EC0E3CEA-6D78-9452-659F-250CB83590B0}"/>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4381BA62-FA00-E98F-601F-1FF517D1A327}"/>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04A0A45F-0FA2-A50B-91EC-3B960CF70BA1}"/>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0B4E9890-2F2B-ECCF-FD16-E2C66BCFD598}"/>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AA249D87-FC8C-9B81-D297-779F0E80C039}"/>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FC959139-F438-D12D-CAEC-96B1F04AD543}"/>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035083DA-B702-05BF-C507-9EFD6498BCEF}"/>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4418D9C9-4D5F-BE4F-619A-F82A85D8CBC4}"/>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A2007574-99A7-6F24-2ACB-286623B74428}"/>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016AA11A-C1B9-3346-4E0B-7AC3B9092BA1}"/>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9463A562-4DE5-C4DF-4B3B-CFA5EEAE70B7}"/>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9EB49F4-81D0-280D-B7CC-8889430BABFA}"/>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C080DE00-FEE9-E959-B022-2172E5F14CAB}"/>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CE6782E6-7E96-7597-57D3-66D9BB9C0E0A}"/>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An Analogy: </a:t>
            </a:r>
            <a:r>
              <a:rPr lang="en-US" sz="2800" b="1" dirty="0">
                <a:solidFill>
                  <a:srgbClr val="70060E"/>
                </a:solidFill>
              </a:rPr>
              <a:t>GPS</a:t>
            </a:r>
          </a:p>
        </p:txBody>
      </p:sp>
      <p:sp>
        <p:nvSpPr>
          <p:cNvPr id="7" name="Google Shape;90;p16">
            <a:extLst>
              <a:ext uri="{FF2B5EF4-FFF2-40B4-BE49-F238E27FC236}">
                <a16:creationId xmlns:a16="http://schemas.microsoft.com/office/drawing/2014/main" id="{8FD3785F-2473-B527-D9A2-B898EC3014F3}"/>
              </a:ext>
            </a:extLst>
          </p:cNvPr>
          <p:cNvSpPr txBox="1">
            <a:spLocks/>
          </p:cNvSpPr>
          <p:nvPr/>
        </p:nvSpPr>
        <p:spPr>
          <a:xfrm>
            <a:off x="532745" y="1752333"/>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chemeClr val="accent3">
                    <a:lumMod val="10000"/>
                  </a:schemeClr>
                </a:solidFill>
              </a:rPr>
              <a:t>It can read and plan faster than you can</a:t>
            </a:r>
            <a:endParaRPr lang="en-US" sz="2800" b="1" dirty="0">
              <a:solidFill>
                <a:srgbClr val="70060E"/>
              </a:solidFill>
            </a:endParaRPr>
          </a:p>
        </p:txBody>
      </p:sp>
      <p:sp>
        <p:nvSpPr>
          <p:cNvPr id="8" name="Google Shape;90;p16">
            <a:extLst>
              <a:ext uri="{FF2B5EF4-FFF2-40B4-BE49-F238E27FC236}">
                <a16:creationId xmlns:a16="http://schemas.microsoft.com/office/drawing/2014/main" id="{0DD46107-9A5F-F7AF-AEB9-FC4B2678C51B}"/>
              </a:ext>
            </a:extLst>
          </p:cNvPr>
          <p:cNvSpPr txBox="1">
            <a:spLocks/>
          </p:cNvSpPr>
          <p:nvPr/>
        </p:nvSpPr>
        <p:spPr>
          <a:xfrm>
            <a:off x="532744" y="2259900"/>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chemeClr val="accent3">
                    <a:lumMod val="10000"/>
                  </a:schemeClr>
                </a:solidFill>
              </a:rPr>
              <a:t>It can compile multiple sources of data</a:t>
            </a:r>
            <a:endParaRPr lang="en-US" sz="2800" b="1" dirty="0">
              <a:solidFill>
                <a:srgbClr val="70060E"/>
              </a:solidFill>
            </a:endParaRPr>
          </a:p>
        </p:txBody>
      </p:sp>
      <p:sp>
        <p:nvSpPr>
          <p:cNvPr id="9" name="Google Shape;90;p16">
            <a:extLst>
              <a:ext uri="{FF2B5EF4-FFF2-40B4-BE49-F238E27FC236}">
                <a16:creationId xmlns:a16="http://schemas.microsoft.com/office/drawing/2014/main" id="{780DC43E-D529-5FB7-B3ED-DE52C254910B}"/>
              </a:ext>
            </a:extLst>
          </p:cNvPr>
          <p:cNvSpPr txBox="1">
            <a:spLocks/>
          </p:cNvSpPr>
          <p:nvPr/>
        </p:nvSpPr>
        <p:spPr>
          <a:xfrm>
            <a:off x="532743" y="2759428"/>
            <a:ext cx="7701462"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chemeClr val="accent3">
                    <a:lumMod val="10000"/>
                  </a:schemeClr>
                </a:solidFill>
              </a:rPr>
              <a:t>It can quickly answer the question of “</a:t>
            </a:r>
            <a:r>
              <a:rPr lang="en-US" sz="2800" b="1" dirty="0">
                <a:solidFill>
                  <a:srgbClr val="70060E"/>
                </a:solidFill>
              </a:rPr>
              <a:t>how</a:t>
            </a:r>
            <a:r>
              <a:rPr lang="en-US" sz="2800" b="1" dirty="0">
                <a:solidFill>
                  <a:schemeClr val="accent3">
                    <a:lumMod val="10000"/>
                  </a:schemeClr>
                </a:solidFill>
              </a:rPr>
              <a:t>”</a:t>
            </a:r>
            <a:endParaRPr lang="en-US" sz="2800" b="1" dirty="0">
              <a:solidFill>
                <a:srgbClr val="70060E"/>
              </a:solidFill>
            </a:endParaRPr>
          </a:p>
        </p:txBody>
      </p:sp>
    </p:spTree>
    <p:extLst>
      <p:ext uri="{BB962C8B-B14F-4D97-AF65-F5344CB8AC3E}">
        <p14:creationId xmlns:p14="http://schemas.microsoft.com/office/powerpoint/2010/main" val="393322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F5F5601-EF95-0CEC-EC17-01245A3B72CA}"/>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A4C3DA2F-B862-E37C-F20F-090EFE2CDBA2}"/>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77BDA73F-818A-8272-2AF8-923E17665929}"/>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64AFC9D6-2C02-858A-756C-FCADE0C4E386}"/>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43DFF227-14A3-0407-149C-8091A3E1ECA1}"/>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20C42B6E-4911-2754-3567-AB07DA18546E}"/>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D980638A-87C7-DAE5-1A64-DDC8A26FE380}"/>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Vibe Coding</a:t>
              </a:r>
              <a:endParaRPr sz="700" b="1" dirty="0">
                <a:solidFill>
                  <a:srgbClr val="FB0201"/>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E9F7EB79-192D-025F-63B2-86F1DE099D8D}"/>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0B59404C-BB1C-0796-FFC3-F848E2F7A3FF}"/>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FDB93E8B-0F84-FD2C-2AD4-80E422C118C9}"/>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E541A8AC-0D52-B1BC-994A-75A5B825F761}"/>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“Vibe Coding”</a:t>
            </a:r>
            <a:endParaRPr dirty="0"/>
          </a:p>
        </p:txBody>
      </p:sp>
      <p:grpSp>
        <p:nvGrpSpPr>
          <p:cNvPr id="2" name="Group 1">
            <a:extLst>
              <a:ext uri="{FF2B5EF4-FFF2-40B4-BE49-F238E27FC236}">
                <a16:creationId xmlns:a16="http://schemas.microsoft.com/office/drawing/2014/main" id="{B273ECFA-2F5D-5D05-4CD8-CCF25115EA02}"/>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DE769A87-4822-F6FA-3A8A-BD7C6F7342FC}"/>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B0373595-637D-DEB5-BD7C-C7420D253ADA}"/>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BB9CD7D-477C-B9A5-7E3B-8B4366B9BF48}"/>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90A0FF93-797F-0F9B-5DA1-C88890933076}"/>
              </a:ext>
            </a:extLst>
          </p:cNvPr>
          <p:cNvSpPr/>
          <p:nvPr/>
        </p:nvSpPr>
        <p:spPr>
          <a:xfrm rot="-12433">
            <a:off x="8068105" y="532874"/>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FC2F85FD-88B0-C00E-14C9-8E8E1DFB78E6}"/>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An Analogy: </a:t>
            </a:r>
            <a:r>
              <a:rPr lang="en-US" sz="2800" b="1" dirty="0">
                <a:solidFill>
                  <a:srgbClr val="70060E"/>
                </a:solidFill>
              </a:rPr>
              <a:t>GPS</a:t>
            </a:r>
          </a:p>
        </p:txBody>
      </p:sp>
      <p:sp>
        <p:nvSpPr>
          <p:cNvPr id="7" name="Google Shape;90;p16">
            <a:extLst>
              <a:ext uri="{FF2B5EF4-FFF2-40B4-BE49-F238E27FC236}">
                <a16:creationId xmlns:a16="http://schemas.microsoft.com/office/drawing/2014/main" id="{726C09BD-B0F9-C3F0-02FB-ED6BEBEB00C6}"/>
              </a:ext>
            </a:extLst>
          </p:cNvPr>
          <p:cNvSpPr txBox="1">
            <a:spLocks/>
          </p:cNvSpPr>
          <p:nvPr/>
        </p:nvSpPr>
        <p:spPr>
          <a:xfrm>
            <a:off x="532745" y="1752333"/>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r>
              <a:rPr lang="en-US" sz="2800" b="1" dirty="0">
                <a:solidFill>
                  <a:schemeClr val="accent3">
                    <a:lumMod val="10000"/>
                  </a:schemeClr>
                </a:solidFill>
              </a:rPr>
              <a:t>You say “Fernandina Beach”</a:t>
            </a:r>
            <a:endParaRPr lang="en-US" sz="2800" b="1" dirty="0">
              <a:solidFill>
                <a:srgbClr val="70060E"/>
              </a:solidFill>
            </a:endParaRPr>
          </a:p>
        </p:txBody>
      </p:sp>
      <p:sp>
        <p:nvSpPr>
          <p:cNvPr id="10" name="AutoShape 2" descr="Image preview">
            <a:extLst>
              <a:ext uri="{FF2B5EF4-FFF2-40B4-BE49-F238E27FC236}">
                <a16:creationId xmlns:a16="http://schemas.microsoft.com/office/drawing/2014/main" id="{3F0905D2-6CD6-B63E-245A-534C1D4F05E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98BDA103-8506-B242-A45D-4C6E0C2809CD}"/>
              </a:ext>
            </a:extLst>
          </p:cNvPr>
          <p:cNvPicPr>
            <a:picLocks noChangeAspect="1"/>
          </p:cNvPicPr>
          <p:nvPr/>
        </p:nvPicPr>
        <p:blipFill>
          <a:blip r:embed="rId4"/>
          <a:stretch>
            <a:fillRect/>
          </a:stretch>
        </p:blipFill>
        <p:spPr>
          <a:xfrm>
            <a:off x="5744231" y="1334434"/>
            <a:ext cx="2489973" cy="5398107"/>
          </a:xfrm>
          <a:prstGeom prst="rect">
            <a:avLst/>
          </a:prstGeom>
        </p:spPr>
      </p:pic>
    </p:spTree>
    <p:extLst>
      <p:ext uri="{BB962C8B-B14F-4D97-AF65-F5344CB8AC3E}">
        <p14:creationId xmlns:p14="http://schemas.microsoft.com/office/powerpoint/2010/main" val="401590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3ACBA8C5-90F5-41FA-E993-4EFC8E4447EE}"/>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DE4705C3-F221-6E4A-1D67-272A32D95CAB}"/>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EF454C9C-04FE-E0FE-B128-4753F8BCEE2E}"/>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93568241-13E7-3317-DE2C-888DB622B7A2}"/>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F28D7D1D-24DA-1598-67CC-CECD07A60382}"/>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36020B85-1259-51C0-FA89-8D671A08FC51}"/>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1AC71168-F1DE-C8DA-78B9-2C8B1C712A63}"/>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Vibe Coding</a:t>
              </a:r>
              <a:endParaRPr sz="700" b="1" dirty="0">
                <a:solidFill>
                  <a:schemeClr val="accent3">
                    <a:lumMod val="10000"/>
                  </a:schemeClr>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24D92388-D6D8-62BA-162B-EECB88039549}"/>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AI Moved the Line</a:t>
              </a:r>
              <a:endParaRPr sz="700" b="1" dirty="0">
                <a:solidFill>
                  <a:srgbClr val="FB0201"/>
                </a:solidFill>
                <a:latin typeface="Roboto"/>
                <a:ea typeface="Roboto"/>
                <a:cs typeface="Roboto"/>
                <a:sym typeface="Roboto"/>
              </a:endParaRPr>
            </a:p>
          </p:txBody>
        </p:sp>
        <p:sp>
          <p:nvSpPr>
            <p:cNvPr id="19" name="Google Shape;130;p20">
              <a:extLst>
                <a:ext uri="{FF2B5EF4-FFF2-40B4-BE49-F238E27FC236}">
                  <a16:creationId xmlns:a16="http://schemas.microsoft.com/office/drawing/2014/main" id="{4108C142-7818-FAC7-403B-B52208FB3767}"/>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F9D14EE9-420D-30DA-E01C-C2BCDABADBA5}"/>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2954E08D-A5A1-7B22-5966-8044D67D3540}"/>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AI Moved the Buy/Build Line</a:t>
            </a:r>
            <a:endParaRPr dirty="0"/>
          </a:p>
        </p:txBody>
      </p:sp>
      <p:grpSp>
        <p:nvGrpSpPr>
          <p:cNvPr id="2" name="Group 1">
            <a:extLst>
              <a:ext uri="{FF2B5EF4-FFF2-40B4-BE49-F238E27FC236}">
                <a16:creationId xmlns:a16="http://schemas.microsoft.com/office/drawing/2014/main" id="{4F812C50-0EA1-5423-72B9-35ED065FD5D7}"/>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303A0F80-A684-84A5-E29C-04DD3CF0E62C}"/>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7D8EC6F1-1FF7-3313-1066-B3C2834C4044}"/>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A6137BB-55CC-6E4C-9A46-4F6F0A962E76}"/>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C0037B4C-D0DA-6F4D-E350-FFFADE8B2892}"/>
              </a:ext>
            </a:extLst>
          </p:cNvPr>
          <p:cNvSpPr/>
          <p:nvPr/>
        </p:nvSpPr>
        <p:spPr>
          <a:xfrm rot="-12433">
            <a:off x="8068105" y="69098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0;p16">
            <a:extLst>
              <a:ext uri="{FF2B5EF4-FFF2-40B4-BE49-F238E27FC236}">
                <a16:creationId xmlns:a16="http://schemas.microsoft.com/office/drawing/2014/main" id="{8F32C244-0DC3-D48C-31C8-38D588628DF7}"/>
              </a:ext>
            </a:extLst>
          </p:cNvPr>
          <p:cNvSpPr txBox="1">
            <a:spLocks/>
          </p:cNvSpPr>
          <p:nvPr/>
        </p:nvSpPr>
        <p:spPr>
          <a:xfrm>
            <a:off x="768294" y="1722166"/>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Has</a:t>
            </a:r>
            <a:r>
              <a:rPr lang="en-US" sz="2800" b="1" dirty="0">
                <a:solidFill>
                  <a:srgbClr val="70060E"/>
                </a:solidFill>
              </a:rPr>
              <a:t> </a:t>
            </a:r>
            <a:r>
              <a:rPr lang="en-US" sz="2800" b="1" dirty="0">
                <a:solidFill>
                  <a:schemeClr val="accent3">
                    <a:lumMod val="10000"/>
                  </a:schemeClr>
                </a:solidFill>
              </a:rPr>
              <a:t>always</a:t>
            </a:r>
            <a:r>
              <a:rPr lang="en-US" sz="2800" b="1" dirty="0">
                <a:solidFill>
                  <a:srgbClr val="70060E"/>
                </a:solidFill>
              </a:rPr>
              <a:t> </a:t>
            </a:r>
            <a:r>
              <a:rPr lang="en-US" sz="2800" b="1" dirty="0">
                <a:solidFill>
                  <a:schemeClr val="accent3">
                    <a:lumMod val="10000"/>
                  </a:schemeClr>
                </a:solidFill>
              </a:rPr>
              <a:t>been:</a:t>
            </a:r>
          </a:p>
        </p:txBody>
      </p:sp>
      <p:sp>
        <p:nvSpPr>
          <p:cNvPr id="9" name="Google Shape;90;p16">
            <a:extLst>
              <a:ext uri="{FF2B5EF4-FFF2-40B4-BE49-F238E27FC236}">
                <a16:creationId xmlns:a16="http://schemas.microsoft.com/office/drawing/2014/main" id="{42AADD02-0621-7F29-E354-997D1038AAE8}"/>
              </a:ext>
            </a:extLst>
          </p:cNvPr>
          <p:cNvSpPr txBox="1">
            <a:spLocks/>
          </p:cNvSpPr>
          <p:nvPr/>
        </p:nvSpPr>
        <p:spPr>
          <a:xfrm>
            <a:off x="187189" y="121726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The answer to “</a:t>
            </a:r>
            <a:r>
              <a:rPr lang="en-US" sz="2800" b="1" dirty="0">
                <a:solidFill>
                  <a:srgbClr val="70060E"/>
                </a:solidFill>
              </a:rPr>
              <a:t>Can we do this?</a:t>
            </a:r>
            <a:r>
              <a:rPr lang="en-US" sz="2800" b="1" dirty="0">
                <a:solidFill>
                  <a:schemeClr val="accent3">
                    <a:lumMod val="10000"/>
                  </a:schemeClr>
                </a:solidFill>
              </a:rPr>
              <a:t>”</a:t>
            </a:r>
            <a:endParaRPr lang="en-US" sz="2800" b="1" dirty="0">
              <a:solidFill>
                <a:srgbClr val="70060E"/>
              </a:solidFill>
            </a:endParaRPr>
          </a:p>
        </p:txBody>
      </p:sp>
      <p:sp>
        <p:nvSpPr>
          <p:cNvPr id="18" name="Google Shape;90;p16">
            <a:extLst>
              <a:ext uri="{FF2B5EF4-FFF2-40B4-BE49-F238E27FC236}">
                <a16:creationId xmlns:a16="http://schemas.microsoft.com/office/drawing/2014/main" id="{02B8358F-7F7E-3FDA-0D7D-22E06EBAB8D5}"/>
              </a:ext>
            </a:extLst>
          </p:cNvPr>
          <p:cNvSpPr txBox="1">
            <a:spLocks/>
          </p:cNvSpPr>
          <p:nvPr/>
        </p:nvSpPr>
        <p:spPr>
          <a:xfrm>
            <a:off x="752567" y="276168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3600" b="1" dirty="0">
                <a:solidFill>
                  <a:srgbClr val="70060E"/>
                </a:solidFill>
              </a:rPr>
              <a:t>Yes!</a:t>
            </a:r>
          </a:p>
        </p:txBody>
      </p:sp>
      <p:sp>
        <p:nvSpPr>
          <p:cNvPr id="23" name="Google Shape;90;p16">
            <a:extLst>
              <a:ext uri="{FF2B5EF4-FFF2-40B4-BE49-F238E27FC236}">
                <a16:creationId xmlns:a16="http://schemas.microsoft.com/office/drawing/2014/main" id="{2BEAE9B2-6872-4D87-D36D-8C5B2EF96A5C}"/>
              </a:ext>
            </a:extLst>
          </p:cNvPr>
          <p:cNvSpPr txBox="1">
            <a:spLocks/>
          </p:cNvSpPr>
          <p:nvPr/>
        </p:nvSpPr>
        <p:spPr>
          <a:xfrm>
            <a:off x="1761239" y="2836351"/>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We can do </a:t>
            </a:r>
            <a:r>
              <a:rPr lang="en-US" sz="2800" b="1" dirty="0">
                <a:solidFill>
                  <a:srgbClr val="70060E"/>
                </a:solidFill>
              </a:rPr>
              <a:t>anything.</a:t>
            </a:r>
          </a:p>
        </p:txBody>
      </p:sp>
      <p:sp>
        <p:nvSpPr>
          <p:cNvPr id="25" name="Google Shape;90;p16">
            <a:extLst>
              <a:ext uri="{FF2B5EF4-FFF2-40B4-BE49-F238E27FC236}">
                <a16:creationId xmlns:a16="http://schemas.microsoft.com/office/drawing/2014/main" id="{02A8CCEB-4AE2-867F-FA42-DC4E037D983D}"/>
              </a:ext>
            </a:extLst>
          </p:cNvPr>
          <p:cNvSpPr txBox="1">
            <a:spLocks/>
          </p:cNvSpPr>
          <p:nvPr/>
        </p:nvSpPr>
        <p:spPr>
          <a:xfrm>
            <a:off x="783289" y="3332158"/>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The real questions are: “</a:t>
            </a:r>
            <a:r>
              <a:rPr lang="en-US" sz="2800" b="1" dirty="0">
                <a:solidFill>
                  <a:srgbClr val="70060E"/>
                </a:solidFill>
              </a:rPr>
              <a:t>how long</a:t>
            </a:r>
            <a:r>
              <a:rPr lang="en-US" sz="2800" b="1" dirty="0">
                <a:solidFill>
                  <a:schemeClr val="accent3">
                    <a:lumMod val="10000"/>
                  </a:schemeClr>
                </a:solidFill>
              </a:rPr>
              <a:t>”</a:t>
            </a:r>
          </a:p>
        </p:txBody>
      </p:sp>
      <p:sp>
        <p:nvSpPr>
          <p:cNvPr id="26" name="Google Shape;90;p16">
            <a:extLst>
              <a:ext uri="{FF2B5EF4-FFF2-40B4-BE49-F238E27FC236}">
                <a16:creationId xmlns:a16="http://schemas.microsoft.com/office/drawing/2014/main" id="{F64B18D4-A87A-07BD-60FD-E3E65B216D15}"/>
              </a:ext>
            </a:extLst>
          </p:cNvPr>
          <p:cNvSpPr txBox="1">
            <a:spLocks/>
          </p:cNvSpPr>
          <p:nvPr/>
        </p:nvSpPr>
        <p:spPr>
          <a:xfrm>
            <a:off x="4669330" y="3827965"/>
            <a:ext cx="738276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and “</a:t>
            </a:r>
            <a:r>
              <a:rPr lang="en-US" sz="2800" b="1" dirty="0">
                <a:solidFill>
                  <a:srgbClr val="70060E"/>
                </a:solidFill>
              </a:rPr>
              <a:t>how much?</a:t>
            </a:r>
            <a:r>
              <a:rPr lang="en-US" sz="2800" b="1" dirty="0">
                <a:solidFill>
                  <a:schemeClr val="accent3">
                    <a:lumMod val="10000"/>
                  </a:schemeClr>
                </a:solidFill>
              </a:rPr>
              <a:t>”</a:t>
            </a:r>
          </a:p>
        </p:txBody>
      </p:sp>
    </p:spTree>
    <p:extLst>
      <p:ext uri="{BB962C8B-B14F-4D97-AF65-F5344CB8AC3E}">
        <p14:creationId xmlns:p14="http://schemas.microsoft.com/office/powerpoint/2010/main" val="138753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7CAE1FA3-0258-909F-AD9E-7B4EA3C47FC2}"/>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1882D2B8-D92A-0CDF-1545-C88CA25E078D}"/>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3FC553D1-2C14-6B59-831A-A59411A47083}"/>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759B1933-AF03-80C5-FB8B-CD6624F6C829}"/>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7156FE3D-FB4F-064C-66FE-9A5EED327B88}"/>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A130E65E-E9F3-8623-37D6-E83C95E550A6}"/>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08974610-7C13-02D0-8605-C1506D59DA69}"/>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Vibe Coding</a:t>
              </a:r>
              <a:endParaRPr sz="700" b="1" dirty="0">
                <a:solidFill>
                  <a:schemeClr val="accent3">
                    <a:lumMod val="10000"/>
                  </a:schemeClr>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74D2500B-88D1-D439-6F7E-4457CDABFA38}"/>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AI Moved the Line</a:t>
              </a:r>
              <a:endParaRPr sz="700" b="1" dirty="0">
                <a:solidFill>
                  <a:srgbClr val="FB0201"/>
                </a:solidFill>
                <a:latin typeface="Roboto"/>
                <a:ea typeface="Roboto"/>
                <a:cs typeface="Roboto"/>
                <a:sym typeface="Roboto"/>
              </a:endParaRPr>
            </a:p>
          </p:txBody>
        </p:sp>
        <p:sp>
          <p:nvSpPr>
            <p:cNvPr id="19" name="Google Shape;130;p20">
              <a:extLst>
                <a:ext uri="{FF2B5EF4-FFF2-40B4-BE49-F238E27FC236}">
                  <a16:creationId xmlns:a16="http://schemas.microsoft.com/office/drawing/2014/main" id="{7E1A123C-F1C9-14BB-743A-A04F93C91ACC}"/>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08B69236-FD41-E030-77A2-A802069A2D2F}"/>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1EFAACB5-A877-442A-1C03-639F08C1965E}"/>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AI Moved the Buy/Build Line</a:t>
            </a:r>
            <a:endParaRPr dirty="0"/>
          </a:p>
        </p:txBody>
      </p:sp>
      <p:grpSp>
        <p:nvGrpSpPr>
          <p:cNvPr id="2" name="Group 1">
            <a:extLst>
              <a:ext uri="{FF2B5EF4-FFF2-40B4-BE49-F238E27FC236}">
                <a16:creationId xmlns:a16="http://schemas.microsoft.com/office/drawing/2014/main" id="{94F9CF3C-F4DC-D6ED-BFBB-14F5D4B321A7}"/>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CA22B031-6734-FDDA-ECF4-75FC6BD3839A}"/>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1B4EEE25-CAEC-2A77-71F4-D8E5DEF2A09D}"/>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16FD226-4612-CB0F-508A-00CE9E799DC6}"/>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1B86E6F7-E8B1-80E9-1256-084B7CDB3E1D}"/>
              </a:ext>
            </a:extLst>
          </p:cNvPr>
          <p:cNvSpPr/>
          <p:nvPr/>
        </p:nvSpPr>
        <p:spPr>
          <a:xfrm rot="-12433">
            <a:off x="8068105" y="69098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412CBE8C-27A4-4694-C4E9-E88D56B5A7C0}"/>
              </a:ext>
            </a:extLst>
          </p:cNvPr>
          <p:cNvSpPr txBox="1">
            <a:spLocks/>
          </p:cNvSpPr>
          <p:nvPr/>
        </p:nvSpPr>
        <p:spPr>
          <a:xfrm>
            <a:off x="93594" y="1317396"/>
            <a:ext cx="895681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AI is changing “</a:t>
            </a:r>
            <a:r>
              <a:rPr lang="en-US" sz="2800" b="1" dirty="0">
                <a:solidFill>
                  <a:srgbClr val="70060E"/>
                </a:solidFill>
              </a:rPr>
              <a:t>how long</a:t>
            </a:r>
            <a:r>
              <a:rPr lang="en-US" sz="2800" b="1" dirty="0">
                <a:solidFill>
                  <a:schemeClr val="accent3">
                    <a:lumMod val="10000"/>
                  </a:schemeClr>
                </a:solidFill>
              </a:rPr>
              <a:t>” and “</a:t>
            </a:r>
            <a:r>
              <a:rPr lang="en-US" sz="2800" b="1" dirty="0">
                <a:solidFill>
                  <a:srgbClr val="70060E"/>
                </a:solidFill>
              </a:rPr>
              <a:t>how much</a:t>
            </a:r>
            <a:r>
              <a:rPr lang="en-US" sz="2800" b="1" dirty="0">
                <a:solidFill>
                  <a:schemeClr val="accent3">
                    <a:lumMod val="10000"/>
                  </a:schemeClr>
                </a:solidFill>
              </a:rPr>
              <a:t>”</a:t>
            </a:r>
          </a:p>
        </p:txBody>
      </p:sp>
      <p:sp>
        <p:nvSpPr>
          <p:cNvPr id="9" name="Google Shape;90;p16">
            <a:extLst>
              <a:ext uri="{FF2B5EF4-FFF2-40B4-BE49-F238E27FC236}">
                <a16:creationId xmlns:a16="http://schemas.microsoft.com/office/drawing/2014/main" id="{331057CB-787A-A5EF-7109-D1A66E07920E}"/>
              </a:ext>
            </a:extLst>
          </p:cNvPr>
          <p:cNvSpPr txBox="1">
            <a:spLocks/>
          </p:cNvSpPr>
          <p:nvPr/>
        </p:nvSpPr>
        <p:spPr>
          <a:xfrm>
            <a:off x="2550649" y="2857121"/>
            <a:ext cx="4393075" cy="870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3200" b="1" dirty="0">
                <a:solidFill>
                  <a:srgbClr val="70060E"/>
                </a:solidFill>
              </a:rPr>
              <a:t>[Return to live demo]</a:t>
            </a:r>
          </a:p>
        </p:txBody>
      </p:sp>
    </p:spTree>
    <p:extLst>
      <p:ext uri="{BB962C8B-B14F-4D97-AF65-F5344CB8AC3E}">
        <p14:creationId xmlns:p14="http://schemas.microsoft.com/office/powerpoint/2010/main" val="59372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AA10AFDF-5F3A-DE7C-69FC-124744C12C6B}"/>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AF769DFB-E5B3-759F-53AD-951BDFA11ABC}"/>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E91B1AD6-9D53-BDE6-BB5F-369F06CB36B4}"/>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88ACA98D-1DA3-E343-A40B-CBAEC1C7686D}"/>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0BDA0F4D-A5DA-F8C2-D062-152EC7E53489}"/>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7AC06F26-E846-24EC-AAEC-2564789E9099}"/>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chemeClr val="accent3">
                      <a:lumMod val="10000"/>
                    </a:schemeClr>
                  </a:solidFill>
                  <a:latin typeface="Roboto"/>
                  <a:ea typeface="Roboto"/>
                  <a:cs typeface="Roboto"/>
                  <a:sym typeface="Roboto"/>
                </a:rPr>
                <a:t>Stitch</a:t>
              </a:r>
              <a:endParaRPr sz="700" b="1" dirty="0">
                <a:solidFill>
                  <a:schemeClr val="accent3">
                    <a:lumMod val="10000"/>
                  </a:schemeClr>
                </a:solidFill>
                <a:latin typeface="Roboto"/>
                <a:ea typeface="Roboto"/>
                <a:cs typeface="Roboto"/>
                <a:sym typeface="Roboto"/>
              </a:endParaRPr>
            </a:p>
          </p:txBody>
        </p:sp>
        <p:sp>
          <p:nvSpPr>
            <p:cNvPr id="15" name="Google Shape;129;p20">
              <a:extLst>
                <a:ext uri="{FF2B5EF4-FFF2-40B4-BE49-F238E27FC236}">
                  <a16:creationId xmlns:a16="http://schemas.microsoft.com/office/drawing/2014/main" id="{7DAAD25A-5B5E-72F6-7BF8-9F3D1632B049}"/>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Vibe Coding</a:t>
              </a:r>
              <a:endParaRPr sz="700" b="1" dirty="0">
                <a:solidFill>
                  <a:schemeClr val="accent3">
                    <a:lumMod val="10000"/>
                  </a:schemeClr>
                </a:solidFill>
                <a:latin typeface="Roboto"/>
                <a:ea typeface="Roboto"/>
                <a:cs typeface="Roboto"/>
                <a:sym typeface="Roboto"/>
              </a:endParaRPr>
            </a:p>
          </p:txBody>
        </p:sp>
        <p:sp>
          <p:nvSpPr>
            <p:cNvPr id="16" name="Google Shape;130;p20">
              <a:extLst>
                <a:ext uri="{FF2B5EF4-FFF2-40B4-BE49-F238E27FC236}">
                  <a16:creationId xmlns:a16="http://schemas.microsoft.com/office/drawing/2014/main" id="{E612AD5E-D907-1E6A-A4EE-B427BDF70BF9}"/>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rgbClr val="FB0201"/>
                  </a:solidFill>
                  <a:latin typeface="Roboto"/>
                  <a:ea typeface="Roboto"/>
                  <a:cs typeface="Roboto"/>
                  <a:sym typeface="Roboto"/>
                </a:rPr>
                <a:t>AI Moved the Line</a:t>
              </a:r>
              <a:endParaRPr sz="700" b="1" dirty="0">
                <a:solidFill>
                  <a:srgbClr val="FB0201"/>
                </a:solidFill>
                <a:latin typeface="Roboto"/>
                <a:ea typeface="Roboto"/>
                <a:cs typeface="Roboto"/>
                <a:sym typeface="Roboto"/>
              </a:endParaRPr>
            </a:p>
          </p:txBody>
        </p:sp>
        <p:sp>
          <p:nvSpPr>
            <p:cNvPr id="19" name="Google Shape;130;p20">
              <a:extLst>
                <a:ext uri="{FF2B5EF4-FFF2-40B4-BE49-F238E27FC236}">
                  <a16:creationId xmlns:a16="http://schemas.microsoft.com/office/drawing/2014/main" id="{A4C9B438-908C-B3D6-B26B-9904EA5DDEC8}"/>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latin typeface="Roboto"/>
                  <a:ea typeface="Roboto"/>
                  <a:cs typeface="Roboto"/>
                  <a:sym typeface="Roboto"/>
                </a:rPr>
                <a:t>Examples</a:t>
              </a:r>
              <a:endParaRPr sz="700" b="1" dirty="0">
                <a:latin typeface="Roboto"/>
                <a:ea typeface="Roboto"/>
                <a:cs typeface="Roboto"/>
                <a:sym typeface="Roboto"/>
              </a:endParaRPr>
            </a:p>
          </p:txBody>
        </p:sp>
        <p:sp>
          <p:nvSpPr>
            <p:cNvPr id="22" name="Google Shape;130;p20">
              <a:extLst>
                <a:ext uri="{FF2B5EF4-FFF2-40B4-BE49-F238E27FC236}">
                  <a16:creationId xmlns:a16="http://schemas.microsoft.com/office/drawing/2014/main" id="{5CE1CD88-1399-1396-784F-0DFCAD17DDC3}"/>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88DC5A20-4F80-B5AB-D606-6F099539BB94}"/>
              </a:ext>
            </a:extLst>
          </p:cNvPr>
          <p:cNvSpPr txBox="1">
            <a:spLocks noGrp="1"/>
          </p:cNvSpPr>
          <p:nvPr>
            <p:ph type="title"/>
          </p:nvPr>
        </p:nvSpPr>
        <p:spPr>
          <a:xfrm>
            <a:off x="311725" y="500925"/>
            <a:ext cx="7344851"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AI Moved the Buy/Build Line</a:t>
            </a:r>
            <a:endParaRPr dirty="0"/>
          </a:p>
        </p:txBody>
      </p:sp>
      <p:grpSp>
        <p:nvGrpSpPr>
          <p:cNvPr id="2" name="Group 1">
            <a:extLst>
              <a:ext uri="{FF2B5EF4-FFF2-40B4-BE49-F238E27FC236}">
                <a16:creationId xmlns:a16="http://schemas.microsoft.com/office/drawing/2014/main" id="{7EF09DFD-8DFB-E7DC-CE09-6808D41C2936}"/>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AF010C33-6ECD-E2B1-2A0D-0577F6859EAA}"/>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1DD220B5-C060-67F1-01CD-C2AF7096774B}"/>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20179BB-5911-8439-1BAD-07E721634202}"/>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3CC23C08-C5A6-79E2-4897-B49C3BF95D7B}"/>
              </a:ext>
            </a:extLst>
          </p:cNvPr>
          <p:cNvSpPr/>
          <p:nvPr/>
        </p:nvSpPr>
        <p:spPr>
          <a:xfrm rot="-12433">
            <a:off x="8068105" y="69098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A6CD78D4-CDBB-B26E-5275-89ADB31533D6}"/>
              </a:ext>
            </a:extLst>
          </p:cNvPr>
          <p:cNvSpPr txBox="1">
            <a:spLocks/>
          </p:cNvSpPr>
          <p:nvPr/>
        </p:nvSpPr>
        <p:spPr>
          <a:xfrm>
            <a:off x="93594" y="1317396"/>
            <a:ext cx="895681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The calculus has changed for the upfront “</a:t>
            </a:r>
            <a:r>
              <a:rPr lang="en-US" sz="2800" b="1" dirty="0">
                <a:solidFill>
                  <a:srgbClr val="70060E"/>
                </a:solidFill>
              </a:rPr>
              <a:t>Build</a:t>
            </a:r>
            <a:r>
              <a:rPr lang="en-US" sz="2800" b="1" dirty="0">
                <a:solidFill>
                  <a:schemeClr val="accent3">
                    <a:lumMod val="10000"/>
                  </a:schemeClr>
                </a:solidFill>
              </a:rPr>
              <a:t>”</a:t>
            </a:r>
          </a:p>
        </p:txBody>
      </p:sp>
      <p:sp>
        <p:nvSpPr>
          <p:cNvPr id="7" name="Google Shape;90;p16">
            <a:extLst>
              <a:ext uri="{FF2B5EF4-FFF2-40B4-BE49-F238E27FC236}">
                <a16:creationId xmlns:a16="http://schemas.microsoft.com/office/drawing/2014/main" id="{8E1BB4E8-33FD-703A-CEDC-2F40907DD6EE}"/>
              </a:ext>
            </a:extLst>
          </p:cNvPr>
          <p:cNvSpPr txBox="1">
            <a:spLocks/>
          </p:cNvSpPr>
          <p:nvPr/>
        </p:nvSpPr>
        <p:spPr>
          <a:xfrm>
            <a:off x="93594" y="1822017"/>
            <a:ext cx="8631306"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But… remember </a:t>
            </a:r>
            <a:r>
              <a:rPr lang="en-US" sz="2800" b="1" dirty="0">
                <a:solidFill>
                  <a:srgbClr val="70060E"/>
                </a:solidFill>
              </a:rPr>
              <a:t>Build</a:t>
            </a:r>
            <a:r>
              <a:rPr lang="en-US" sz="2800" b="1" dirty="0">
                <a:solidFill>
                  <a:schemeClr val="accent3">
                    <a:lumMod val="10000"/>
                  </a:schemeClr>
                </a:solidFill>
              </a:rPr>
              <a:t>, only when you are prepared to </a:t>
            </a:r>
            <a:r>
              <a:rPr lang="en-US" sz="2800" b="1" u="sng" dirty="0">
                <a:solidFill>
                  <a:srgbClr val="70060E"/>
                </a:solidFill>
              </a:rPr>
              <a:t>own:</a:t>
            </a:r>
          </a:p>
        </p:txBody>
      </p:sp>
      <p:sp>
        <p:nvSpPr>
          <p:cNvPr id="8" name="TextBox 7">
            <a:extLst>
              <a:ext uri="{FF2B5EF4-FFF2-40B4-BE49-F238E27FC236}">
                <a16:creationId xmlns:a16="http://schemas.microsoft.com/office/drawing/2014/main" id="{21ACC5FD-5B0D-1013-C92D-4A8B4EAEDB9E}"/>
              </a:ext>
            </a:extLst>
          </p:cNvPr>
          <p:cNvSpPr txBox="1"/>
          <p:nvPr/>
        </p:nvSpPr>
        <p:spPr>
          <a:xfrm>
            <a:off x="1796073" y="2904097"/>
            <a:ext cx="2775926" cy="1938992"/>
          </a:xfrm>
          <a:prstGeom prst="rect">
            <a:avLst/>
          </a:prstGeom>
          <a:noFill/>
        </p:spPr>
        <p:txBody>
          <a:bodyPr wrap="square">
            <a:spAutoFit/>
          </a:bodyPr>
          <a:lstStyle/>
          <a:p>
            <a:pPr marL="342900" indent="-342900">
              <a:buFont typeface="Arial" panose="020B0604020202020204" pitchFamily="34" charset="0"/>
              <a:buChar char="•"/>
            </a:pPr>
            <a:r>
              <a:rPr lang="en-US" sz="2000" dirty="0"/>
              <a:t>Maintenance</a:t>
            </a:r>
          </a:p>
          <a:p>
            <a:pPr marL="342900" indent="-342900">
              <a:buFont typeface="Arial" panose="020B0604020202020204" pitchFamily="34" charset="0"/>
              <a:buChar char="•"/>
            </a:pPr>
            <a:r>
              <a:rPr lang="en-US" sz="2000" dirty="0"/>
              <a:t>Support</a:t>
            </a:r>
          </a:p>
          <a:p>
            <a:pPr marL="342900" indent="-342900">
              <a:buFont typeface="Arial" panose="020B0604020202020204" pitchFamily="34" charset="0"/>
              <a:buChar char="•"/>
            </a:pPr>
            <a:r>
              <a:rPr lang="en-US" sz="2000" dirty="0"/>
              <a:t>Security</a:t>
            </a:r>
          </a:p>
          <a:p>
            <a:pPr marL="342900" indent="-342900">
              <a:buFont typeface="Arial" panose="020B0604020202020204" pitchFamily="34" charset="0"/>
              <a:buChar char="•"/>
            </a:pPr>
            <a:r>
              <a:rPr lang="en-US" sz="2000" dirty="0"/>
              <a:t>Testing</a:t>
            </a:r>
          </a:p>
          <a:p>
            <a:pPr marL="342900" indent="-342900">
              <a:buFont typeface="Arial" panose="020B0604020202020204" pitchFamily="34" charset="0"/>
              <a:buChar char="•"/>
            </a:pPr>
            <a:r>
              <a:rPr lang="en-US" sz="2000" dirty="0"/>
              <a:t>Documentation</a:t>
            </a:r>
          </a:p>
          <a:p>
            <a:pPr marL="342900" indent="-342900">
              <a:buFont typeface="Arial" panose="020B0604020202020204" pitchFamily="34" charset="0"/>
              <a:buChar char="•"/>
            </a:pPr>
            <a:endParaRPr lang="en-US" sz="2000" dirty="0"/>
          </a:p>
        </p:txBody>
      </p:sp>
      <p:sp>
        <p:nvSpPr>
          <p:cNvPr id="10" name="TextBox 9">
            <a:extLst>
              <a:ext uri="{FF2B5EF4-FFF2-40B4-BE49-F238E27FC236}">
                <a16:creationId xmlns:a16="http://schemas.microsoft.com/office/drawing/2014/main" id="{DE5F81D7-E339-632C-E00A-B1619E4D7240}"/>
              </a:ext>
            </a:extLst>
          </p:cNvPr>
          <p:cNvSpPr txBox="1"/>
          <p:nvPr/>
        </p:nvSpPr>
        <p:spPr>
          <a:xfrm>
            <a:off x="4572001" y="2904097"/>
            <a:ext cx="2775926" cy="1323439"/>
          </a:xfrm>
          <a:prstGeom prst="rect">
            <a:avLst/>
          </a:prstGeom>
          <a:noFill/>
        </p:spPr>
        <p:txBody>
          <a:bodyPr wrap="square">
            <a:spAutoFit/>
          </a:bodyPr>
          <a:lstStyle/>
          <a:p>
            <a:pPr marL="342900" indent="-342900">
              <a:buFont typeface="Arial" panose="020B0604020202020204" pitchFamily="34" charset="0"/>
              <a:buChar char="•"/>
            </a:pPr>
            <a:r>
              <a:rPr lang="en-US" sz="2000" dirty="0"/>
              <a:t>Training</a:t>
            </a:r>
          </a:p>
          <a:p>
            <a:pPr marL="342900" indent="-342900">
              <a:buFont typeface="Arial" panose="020B0604020202020204" pitchFamily="34" charset="0"/>
              <a:buChar char="•"/>
            </a:pPr>
            <a:r>
              <a:rPr lang="en-US" sz="2000" dirty="0"/>
              <a:t>Integrations</a:t>
            </a:r>
          </a:p>
          <a:p>
            <a:pPr marL="342900" indent="-342900">
              <a:buFont typeface="Arial" panose="020B0604020202020204" pitchFamily="34" charset="0"/>
              <a:buChar char="•"/>
            </a:pPr>
            <a:r>
              <a:rPr lang="en-US" sz="2000" dirty="0"/>
              <a:t>Uptime</a:t>
            </a:r>
          </a:p>
          <a:p>
            <a:pPr marL="342900" indent="-342900">
              <a:buFont typeface="Arial" panose="020B0604020202020204" pitchFamily="34" charset="0"/>
              <a:buChar char="•"/>
            </a:pPr>
            <a:r>
              <a:rPr lang="en-US" sz="2000" dirty="0"/>
              <a:t>Future changes</a:t>
            </a:r>
          </a:p>
        </p:txBody>
      </p:sp>
    </p:spTree>
    <p:extLst>
      <p:ext uri="{BB962C8B-B14F-4D97-AF65-F5344CB8AC3E}">
        <p14:creationId xmlns:p14="http://schemas.microsoft.com/office/powerpoint/2010/main" val="232646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2F6DD951-55D2-E940-7E17-B3F40DA242DA}"/>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6F50032C-FE87-CA6E-8FF6-E1CF3B7C4ADA}"/>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517E88B9-A207-6066-887D-828BE8E38D16}"/>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3976D9E3-DF38-9F07-1D9A-2DC1C4904065}"/>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5D4AE7C6-BA50-DB65-F061-955E2A57941F}"/>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5F377867-3556-9A8B-DE72-D1CF39D4DA14}"/>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1EBB9AAF-F9FE-010B-935B-28DADBDC3B78}"/>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02707588-6AEF-3523-044A-C8AE95984179}"/>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2FCD0787-0B6D-AF21-B80E-486564E6C4F2}"/>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solidFill>
                    <a:srgbClr val="FB0201"/>
                  </a:solidFill>
                  <a:latin typeface="Roboto"/>
                  <a:ea typeface="Roboto"/>
                  <a:cs typeface="Roboto"/>
                  <a:sym typeface="Roboto"/>
                </a:rPr>
                <a:t>Examples</a:t>
              </a:r>
              <a:endParaRPr sz="700" b="1" dirty="0">
                <a:solidFill>
                  <a:srgbClr val="FB0201"/>
                </a:solidFill>
                <a:latin typeface="Roboto"/>
                <a:ea typeface="Roboto"/>
                <a:cs typeface="Roboto"/>
                <a:sym typeface="Roboto"/>
              </a:endParaRPr>
            </a:p>
          </p:txBody>
        </p:sp>
        <p:sp>
          <p:nvSpPr>
            <p:cNvPr id="22" name="Google Shape;130;p20">
              <a:extLst>
                <a:ext uri="{FF2B5EF4-FFF2-40B4-BE49-F238E27FC236}">
                  <a16:creationId xmlns:a16="http://schemas.microsoft.com/office/drawing/2014/main" id="{D0154388-C996-BEA4-C735-AD929AE2B600}"/>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2951B581-F5E0-7AB4-7610-642E15887D29}"/>
              </a:ext>
            </a:extLst>
          </p:cNvPr>
          <p:cNvSpPr txBox="1">
            <a:spLocks noGrp="1"/>
          </p:cNvSpPr>
          <p:nvPr>
            <p:ph type="title"/>
          </p:nvPr>
        </p:nvSpPr>
        <p:spPr>
          <a:xfrm>
            <a:off x="311725" y="500925"/>
            <a:ext cx="7399715"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Examples</a:t>
            </a:r>
            <a:endParaRPr dirty="0"/>
          </a:p>
        </p:txBody>
      </p:sp>
      <p:grpSp>
        <p:nvGrpSpPr>
          <p:cNvPr id="2" name="Group 1">
            <a:extLst>
              <a:ext uri="{FF2B5EF4-FFF2-40B4-BE49-F238E27FC236}">
                <a16:creationId xmlns:a16="http://schemas.microsoft.com/office/drawing/2014/main" id="{123D194C-03B7-4DDB-8E06-FADA408EAA27}"/>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1466EAC8-3CD6-C9EB-D423-50B917475161}"/>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C6F78540-E1F0-7248-A98A-CE5D64E3DF53}"/>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010134A-D740-04DF-29FB-3044F9FB00F2}"/>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F06809C0-3BB1-82CE-4361-756E19240D40}"/>
              </a:ext>
            </a:extLst>
          </p:cNvPr>
          <p:cNvSpPr/>
          <p:nvPr/>
        </p:nvSpPr>
        <p:spPr>
          <a:xfrm rot="-12433">
            <a:off x="8068105" y="85481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0;p16">
            <a:extLst>
              <a:ext uri="{FF2B5EF4-FFF2-40B4-BE49-F238E27FC236}">
                <a16:creationId xmlns:a16="http://schemas.microsoft.com/office/drawing/2014/main" id="{A6FFD187-813C-1B23-F5A7-4D18A70F3FC9}"/>
              </a:ext>
            </a:extLst>
          </p:cNvPr>
          <p:cNvSpPr txBox="1">
            <a:spLocks/>
          </p:cNvSpPr>
          <p:nvPr/>
        </p:nvSpPr>
        <p:spPr>
          <a:xfrm>
            <a:off x="2464924" y="2571750"/>
            <a:ext cx="4393075" cy="870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3200" b="1" dirty="0">
                <a:solidFill>
                  <a:srgbClr val="70060E"/>
                </a:solidFill>
              </a:rPr>
              <a:t>[Return to live demo]</a:t>
            </a:r>
          </a:p>
        </p:txBody>
      </p:sp>
    </p:spTree>
    <p:extLst>
      <p:ext uri="{BB962C8B-B14F-4D97-AF65-F5344CB8AC3E}">
        <p14:creationId xmlns:p14="http://schemas.microsoft.com/office/powerpoint/2010/main" val="2368868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91491616-4C66-5C31-7DDD-C542C4FF89A9}"/>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77F9DCB3-F4CB-8780-ABFB-6CE570EE538B}"/>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6659C9C8-0552-3848-0DEB-213117A7C342}"/>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5DD1F5E3-A047-39B4-7F3B-00FCAA9E4AB1}"/>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01CA58D0-FF47-4E76-E890-F2D1EE130799}"/>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C68C7594-4053-D801-46DD-C09A012F46B9}"/>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6873618E-DD01-0919-2227-A97BC7E2BE48}"/>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4ABFB447-61D5-5934-4575-CDEA6B1E84EF}"/>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644FD2DD-7441-7731-289F-50A5432EAA3F}"/>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solidFill>
                    <a:srgbClr val="FB0201"/>
                  </a:solidFill>
                  <a:latin typeface="Roboto"/>
                  <a:ea typeface="Roboto"/>
                  <a:cs typeface="Roboto"/>
                  <a:sym typeface="Roboto"/>
                </a:rPr>
                <a:t>Examples</a:t>
              </a:r>
              <a:endParaRPr sz="700" b="1" dirty="0">
                <a:solidFill>
                  <a:srgbClr val="FB0201"/>
                </a:solidFill>
                <a:latin typeface="Roboto"/>
                <a:ea typeface="Roboto"/>
                <a:cs typeface="Roboto"/>
                <a:sym typeface="Roboto"/>
              </a:endParaRPr>
            </a:p>
          </p:txBody>
        </p:sp>
        <p:sp>
          <p:nvSpPr>
            <p:cNvPr id="22" name="Google Shape;130;p20">
              <a:extLst>
                <a:ext uri="{FF2B5EF4-FFF2-40B4-BE49-F238E27FC236}">
                  <a16:creationId xmlns:a16="http://schemas.microsoft.com/office/drawing/2014/main" id="{D2DA3C51-948F-C56B-5CE4-A6163FCB1F32}"/>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Conclusions</a:t>
              </a:r>
              <a:endParaRPr sz="700" b="1" dirty="0">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FB6BA36B-4E2D-30D7-2CF7-D48A9526ABEE}"/>
              </a:ext>
            </a:extLst>
          </p:cNvPr>
          <p:cNvSpPr txBox="1">
            <a:spLocks noGrp="1"/>
          </p:cNvSpPr>
          <p:nvPr>
            <p:ph type="title"/>
          </p:nvPr>
        </p:nvSpPr>
        <p:spPr>
          <a:xfrm>
            <a:off x="311725" y="500925"/>
            <a:ext cx="7399715"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Examples</a:t>
            </a:r>
            <a:endParaRPr dirty="0"/>
          </a:p>
        </p:txBody>
      </p:sp>
      <p:grpSp>
        <p:nvGrpSpPr>
          <p:cNvPr id="2" name="Group 1">
            <a:extLst>
              <a:ext uri="{FF2B5EF4-FFF2-40B4-BE49-F238E27FC236}">
                <a16:creationId xmlns:a16="http://schemas.microsoft.com/office/drawing/2014/main" id="{1F135BE0-C2B3-853C-AC7D-684DA453BB3D}"/>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42F69C0C-DB8F-89E8-4874-79D0D785011B}"/>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D5C05D29-20DB-BE8D-7CC1-ADC86BC3783E}"/>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E95362A-B591-1E6C-4039-28C21AEAD571}"/>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AA55C865-E61C-AA39-116A-49487182946C}"/>
              </a:ext>
            </a:extLst>
          </p:cNvPr>
          <p:cNvSpPr/>
          <p:nvPr/>
        </p:nvSpPr>
        <p:spPr>
          <a:xfrm rot="-12433">
            <a:off x="8068105" y="854819"/>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420954A3-C984-8C40-F8B3-222D7EE3B6AD}"/>
              </a:ext>
            </a:extLst>
          </p:cNvPr>
          <p:cNvPicPr>
            <a:picLocks noChangeAspect="1"/>
          </p:cNvPicPr>
          <p:nvPr/>
        </p:nvPicPr>
        <p:blipFill>
          <a:blip r:embed="rId4"/>
          <a:stretch>
            <a:fillRect/>
          </a:stretch>
        </p:blipFill>
        <p:spPr>
          <a:xfrm>
            <a:off x="2802616" y="1360706"/>
            <a:ext cx="2851872" cy="2851872"/>
          </a:xfrm>
          <a:prstGeom prst="rect">
            <a:avLst/>
          </a:prstGeom>
        </p:spPr>
      </p:pic>
      <p:sp>
        <p:nvSpPr>
          <p:cNvPr id="8" name="Google Shape;90;p16">
            <a:extLst>
              <a:ext uri="{FF2B5EF4-FFF2-40B4-BE49-F238E27FC236}">
                <a16:creationId xmlns:a16="http://schemas.microsoft.com/office/drawing/2014/main" id="{820878A8-3D46-3561-ADD0-C2CC09EBA53D}"/>
              </a:ext>
            </a:extLst>
          </p:cNvPr>
          <p:cNvSpPr txBox="1">
            <a:spLocks/>
          </p:cNvSpPr>
          <p:nvPr/>
        </p:nvSpPr>
        <p:spPr>
          <a:xfrm>
            <a:off x="1002598" y="4041983"/>
            <a:ext cx="7594252" cy="870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buNone/>
            </a:pPr>
            <a:r>
              <a:rPr lang="en-US" sz="3200" b="1" dirty="0">
                <a:solidFill>
                  <a:schemeClr val="accent3">
                    <a:lumMod val="10000"/>
                  </a:schemeClr>
                </a:solidFill>
              </a:rPr>
              <a:t>Check out our vibe coded app live </a:t>
            </a:r>
            <a:r>
              <a:rPr lang="en-US" sz="3200" b="1" dirty="0">
                <a:solidFill>
                  <a:schemeClr val="accent3">
                    <a:lumMod val="10000"/>
                  </a:schemeClr>
                </a:solidFill>
                <a:hlinkClick r:id="rId5"/>
              </a:rPr>
              <a:t>here</a:t>
            </a:r>
            <a:r>
              <a:rPr lang="en-US" sz="3200" b="1" dirty="0">
                <a:solidFill>
                  <a:schemeClr val="accent3">
                    <a:lumMod val="10000"/>
                  </a:schemeClr>
                </a:solidFill>
              </a:rPr>
              <a:t> </a:t>
            </a:r>
          </a:p>
        </p:txBody>
      </p:sp>
    </p:spTree>
    <p:extLst>
      <p:ext uri="{BB962C8B-B14F-4D97-AF65-F5344CB8AC3E}">
        <p14:creationId xmlns:p14="http://schemas.microsoft.com/office/powerpoint/2010/main" val="3888343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655A7FD-0B3F-923C-0BAF-CEC64114A408}"/>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75CF23F9-6CDE-ACE7-A251-3C07A17DB96B}"/>
              </a:ext>
            </a:extLst>
          </p:cNvPr>
          <p:cNvGrpSpPr/>
          <p:nvPr/>
        </p:nvGrpSpPr>
        <p:grpSpPr>
          <a:xfrm>
            <a:off x="8026100" y="-32100"/>
            <a:ext cx="1597650" cy="1312348"/>
            <a:chOff x="8026100" y="-32100"/>
            <a:chExt cx="1597650" cy="1312348"/>
          </a:xfrm>
        </p:grpSpPr>
        <p:sp>
          <p:nvSpPr>
            <p:cNvPr id="11" name="Google Shape;125;p20">
              <a:extLst>
                <a:ext uri="{FF2B5EF4-FFF2-40B4-BE49-F238E27FC236}">
                  <a16:creationId xmlns:a16="http://schemas.microsoft.com/office/drawing/2014/main" id="{8E9E16CC-EA7B-FD3E-625B-4CB87DDA9756}"/>
                </a:ext>
              </a:extLst>
            </p:cNvPr>
            <p:cNvSpPr/>
            <p:nvPr/>
          </p:nvSpPr>
          <p:spPr>
            <a:xfrm>
              <a:off x="8026100" y="-14288"/>
              <a:ext cx="1141500" cy="1294536"/>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p20">
              <a:extLst>
                <a:ext uri="{FF2B5EF4-FFF2-40B4-BE49-F238E27FC236}">
                  <a16:creationId xmlns:a16="http://schemas.microsoft.com/office/drawing/2014/main" id="{99029C9E-050E-B0D2-A8D7-3A118F3A780C}"/>
                </a:ext>
              </a:extLst>
            </p:cNvPr>
            <p:cNvSpPr txBox="1"/>
            <p:nvPr/>
          </p:nvSpPr>
          <p:spPr>
            <a:xfrm>
              <a:off x="8166050" y="-32100"/>
              <a:ext cx="10335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Buy</a:t>
              </a:r>
              <a:endParaRPr sz="700" b="1" dirty="0">
                <a:solidFill>
                  <a:schemeClr val="accent3">
                    <a:lumMod val="10000"/>
                  </a:schemeClr>
                </a:solidFill>
                <a:latin typeface="Roboto"/>
                <a:ea typeface="Roboto"/>
                <a:cs typeface="Roboto"/>
                <a:sym typeface="Roboto"/>
              </a:endParaRPr>
            </a:p>
          </p:txBody>
        </p:sp>
        <p:sp>
          <p:nvSpPr>
            <p:cNvPr id="13" name="Google Shape;127;p20">
              <a:extLst>
                <a:ext uri="{FF2B5EF4-FFF2-40B4-BE49-F238E27FC236}">
                  <a16:creationId xmlns:a16="http://schemas.microsoft.com/office/drawing/2014/main" id="{B896338D-C476-4BC1-44A9-40BD2D585039}"/>
                </a:ext>
              </a:extLst>
            </p:cNvPr>
            <p:cNvSpPr txBox="1"/>
            <p:nvPr/>
          </p:nvSpPr>
          <p:spPr>
            <a:xfrm>
              <a:off x="8166050" y="127392"/>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solidFill>
                    <a:schemeClr val="accent3">
                      <a:lumMod val="10000"/>
                    </a:schemeClr>
                  </a:solidFill>
                  <a:latin typeface="Roboto"/>
                  <a:ea typeface="Roboto"/>
                  <a:cs typeface="Roboto"/>
                  <a:sym typeface="Roboto"/>
                </a:rPr>
                <a:t>Build</a:t>
              </a:r>
              <a:endParaRPr sz="700" b="1" dirty="0">
                <a:solidFill>
                  <a:schemeClr val="accent3">
                    <a:lumMod val="10000"/>
                  </a:schemeClr>
                </a:solidFill>
                <a:latin typeface="Roboto"/>
                <a:ea typeface="Roboto"/>
                <a:cs typeface="Roboto"/>
                <a:sym typeface="Roboto"/>
              </a:endParaRPr>
            </a:p>
          </p:txBody>
        </p:sp>
        <p:sp>
          <p:nvSpPr>
            <p:cNvPr id="14" name="Google Shape;128;p20">
              <a:extLst>
                <a:ext uri="{FF2B5EF4-FFF2-40B4-BE49-F238E27FC236}">
                  <a16:creationId xmlns:a16="http://schemas.microsoft.com/office/drawing/2014/main" id="{F6A478A5-F191-3C83-6A17-4CB90C07F180}"/>
                </a:ext>
              </a:extLst>
            </p:cNvPr>
            <p:cNvSpPr txBox="1"/>
            <p:nvPr/>
          </p:nvSpPr>
          <p:spPr>
            <a:xfrm>
              <a:off x="8166050" y="286973"/>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latin typeface="Roboto"/>
                  <a:ea typeface="Roboto"/>
                  <a:cs typeface="Roboto"/>
                  <a:sym typeface="Roboto"/>
                </a:rPr>
                <a:t>Stitch</a:t>
              </a:r>
              <a:endParaRPr sz="700" b="1" dirty="0">
                <a:latin typeface="Roboto"/>
                <a:ea typeface="Roboto"/>
                <a:cs typeface="Roboto"/>
                <a:sym typeface="Roboto"/>
              </a:endParaRPr>
            </a:p>
          </p:txBody>
        </p:sp>
        <p:sp>
          <p:nvSpPr>
            <p:cNvPr id="15" name="Google Shape;129;p20">
              <a:extLst>
                <a:ext uri="{FF2B5EF4-FFF2-40B4-BE49-F238E27FC236}">
                  <a16:creationId xmlns:a16="http://schemas.microsoft.com/office/drawing/2014/main" id="{88714B0F-01B2-0FEC-92C6-A794E7B6D807}"/>
                </a:ext>
              </a:extLst>
            </p:cNvPr>
            <p:cNvSpPr txBox="1"/>
            <p:nvPr/>
          </p:nvSpPr>
          <p:spPr>
            <a:xfrm>
              <a:off x="8166050" y="447121"/>
              <a:ext cx="14577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Vibe Coding</a:t>
              </a:r>
              <a:endParaRPr sz="700" b="1" dirty="0">
                <a:latin typeface="Roboto"/>
                <a:ea typeface="Roboto"/>
                <a:cs typeface="Roboto"/>
                <a:sym typeface="Roboto"/>
              </a:endParaRPr>
            </a:p>
          </p:txBody>
        </p:sp>
        <p:sp>
          <p:nvSpPr>
            <p:cNvPr id="16" name="Google Shape;130;p20">
              <a:extLst>
                <a:ext uri="{FF2B5EF4-FFF2-40B4-BE49-F238E27FC236}">
                  <a16:creationId xmlns:a16="http://schemas.microsoft.com/office/drawing/2014/main" id="{FB12F1D6-6D07-0A0A-ABE4-5E172F215E46}"/>
                </a:ext>
              </a:extLst>
            </p:cNvPr>
            <p:cNvSpPr txBox="1"/>
            <p:nvPr/>
          </p:nvSpPr>
          <p:spPr>
            <a:xfrm>
              <a:off x="8166050" y="604357"/>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dirty="0">
                  <a:latin typeface="Roboto"/>
                  <a:ea typeface="Roboto"/>
                  <a:cs typeface="Roboto"/>
                  <a:sym typeface="Roboto"/>
                </a:rPr>
                <a:t>AI Moved the Line</a:t>
              </a:r>
              <a:endParaRPr sz="700" b="1" dirty="0">
                <a:latin typeface="Roboto"/>
                <a:ea typeface="Roboto"/>
                <a:cs typeface="Roboto"/>
                <a:sym typeface="Roboto"/>
              </a:endParaRPr>
            </a:p>
          </p:txBody>
        </p:sp>
        <p:sp>
          <p:nvSpPr>
            <p:cNvPr id="19" name="Google Shape;130;p20">
              <a:extLst>
                <a:ext uri="{FF2B5EF4-FFF2-40B4-BE49-F238E27FC236}">
                  <a16:creationId xmlns:a16="http://schemas.microsoft.com/office/drawing/2014/main" id="{A258C55D-92C9-CC44-B008-F3E28DB80C23}"/>
                </a:ext>
              </a:extLst>
            </p:cNvPr>
            <p:cNvSpPr txBox="1"/>
            <p:nvPr/>
          </p:nvSpPr>
          <p:spPr>
            <a:xfrm>
              <a:off x="8166050" y="763353"/>
              <a:ext cx="1457700" cy="247050"/>
            </a:xfrm>
            <a:prstGeom prst="rect">
              <a:avLst/>
            </a:prstGeom>
            <a:noFill/>
            <a:ln>
              <a:noFill/>
            </a:ln>
          </p:spPr>
          <p:txBody>
            <a:bodyPr spcFirstLastPara="1" wrap="square" lIns="91425" tIns="91425" rIns="91425" bIns="91425" anchor="t" anchorCtr="0">
              <a:noAutofit/>
            </a:bodyPr>
            <a:lstStyle/>
            <a:p>
              <a:pPr lvl="0"/>
              <a:r>
                <a:rPr lang="en-US" sz="700" b="1" dirty="0">
                  <a:solidFill>
                    <a:schemeClr val="accent3">
                      <a:lumMod val="10000"/>
                    </a:schemeClr>
                  </a:solidFill>
                  <a:latin typeface="Roboto"/>
                  <a:ea typeface="Roboto"/>
                  <a:cs typeface="Roboto"/>
                  <a:sym typeface="Roboto"/>
                </a:rPr>
                <a:t>Examples</a:t>
              </a:r>
              <a:endParaRPr sz="700" b="1" dirty="0">
                <a:solidFill>
                  <a:schemeClr val="accent3">
                    <a:lumMod val="10000"/>
                  </a:schemeClr>
                </a:solidFill>
                <a:latin typeface="Roboto"/>
                <a:ea typeface="Roboto"/>
                <a:cs typeface="Roboto"/>
                <a:sym typeface="Roboto"/>
              </a:endParaRPr>
            </a:p>
          </p:txBody>
        </p:sp>
        <p:sp>
          <p:nvSpPr>
            <p:cNvPr id="22" name="Google Shape;130;p20">
              <a:extLst>
                <a:ext uri="{FF2B5EF4-FFF2-40B4-BE49-F238E27FC236}">
                  <a16:creationId xmlns:a16="http://schemas.microsoft.com/office/drawing/2014/main" id="{5204BB8D-0B41-D4AA-B7A1-FDCD180D20B9}"/>
                </a:ext>
              </a:extLst>
            </p:cNvPr>
            <p:cNvSpPr txBox="1"/>
            <p:nvPr/>
          </p:nvSpPr>
          <p:spPr>
            <a:xfrm>
              <a:off x="8166050" y="923165"/>
              <a:ext cx="1457700" cy="247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b="1" dirty="0">
                  <a:solidFill>
                    <a:srgbClr val="FB0201"/>
                  </a:solidFill>
                  <a:latin typeface="Roboto"/>
                  <a:ea typeface="Roboto"/>
                  <a:cs typeface="Roboto"/>
                  <a:sym typeface="Roboto"/>
                </a:rPr>
                <a:t>Conclusions</a:t>
              </a:r>
              <a:endParaRPr sz="700" b="1" dirty="0">
                <a:solidFill>
                  <a:srgbClr val="FB0201"/>
                </a:solidFill>
                <a:latin typeface="Roboto"/>
                <a:ea typeface="Roboto"/>
                <a:cs typeface="Roboto"/>
                <a:sym typeface="Roboto"/>
              </a:endParaRPr>
            </a:p>
          </p:txBody>
        </p:sp>
      </p:grpSp>
      <p:sp>
        <p:nvSpPr>
          <p:cNvPr id="115" name="Google Shape;115;p19">
            <a:extLst>
              <a:ext uri="{FF2B5EF4-FFF2-40B4-BE49-F238E27FC236}">
                <a16:creationId xmlns:a16="http://schemas.microsoft.com/office/drawing/2014/main" id="{13F2FFF1-323C-53D2-6A92-B0EDF782448F}"/>
              </a:ext>
            </a:extLst>
          </p:cNvPr>
          <p:cNvSpPr txBox="1">
            <a:spLocks noGrp="1"/>
          </p:cNvSpPr>
          <p:nvPr>
            <p:ph type="title"/>
          </p:nvPr>
        </p:nvSpPr>
        <p:spPr>
          <a:xfrm>
            <a:off x="311725" y="500925"/>
            <a:ext cx="7399715"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Conclusions</a:t>
            </a:r>
            <a:endParaRPr dirty="0"/>
          </a:p>
        </p:txBody>
      </p:sp>
      <p:grpSp>
        <p:nvGrpSpPr>
          <p:cNvPr id="2" name="Group 1">
            <a:extLst>
              <a:ext uri="{FF2B5EF4-FFF2-40B4-BE49-F238E27FC236}">
                <a16:creationId xmlns:a16="http://schemas.microsoft.com/office/drawing/2014/main" id="{96D3733E-F2E9-2A0D-DC5E-53BCF7D8F08C}"/>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D0D48CAD-6AD3-CCFA-0587-F5FE040FD966}"/>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CDB2E97D-AD65-E7EF-2800-E6FC3C84E00B}"/>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7BAF33D-BEA5-1E10-1D46-3A593DAAE99C}"/>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sp>
        <p:nvSpPr>
          <p:cNvPr id="17" name="Google Shape;132;p20">
            <a:extLst>
              <a:ext uri="{FF2B5EF4-FFF2-40B4-BE49-F238E27FC236}">
                <a16:creationId xmlns:a16="http://schemas.microsoft.com/office/drawing/2014/main" id="{19A115A0-5111-DF57-B208-F2BFC62B0E7A}"/>
              </a:ext>
            </a:extLst>
          </p:cNvPr>
          <p:cNvSpPr/>
          <p:nvPr/>
        </p:nvSpPr>
        <p:spPr>
          <a:xfrm rot="-12433">
            <a:off x="8068105" y="1009596"/>
            <a:ext cx="165901" cy="110100"/>
          </a:xfrm>
          <a:prstGeom prst="rightArrow">
            <a:avLst>
              <a:gd name="adj1" fmla="val 44040"/>
              <a:gd name="adj2" fmla="val 50000"/>
            </a:avLst>
          </a:prstGeom>
          <a:solidFill>
            <a:srgbClr val="FF0000"/>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0;p16">
            <a:extLst>
              <a:ext uri="{FF2B5EF4-FFF2-40B4-BE49-F238E27FC236}">
                <a16:creationId xmlns:a16="http://schemas.microsoft.com/office/drawing/2014/main" id="{AFC3F9B8-A712-80D3-443B-4B96D7554BE3}"/>
              </a:ext>
            </a:extLst>
          </p:cNvPr>
          <p:cNvSpPr txBox="1">
            <a:spLocks/>
          </p:cNvSpPr>
          <p:nvPr/>
        </p:nvSpPr>
        <p:spPr>
          <a:xfrm>
            <a:off x="93594" y="1317396"/>
            <a:ext cx="895681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This talk is about “Buy” vs “Build”</a:t>
            </a:r>
          </a:p>
        </p:txBody>
      </p:sp>
      <p:sp>
        <p:nvSpPr>
          <p:cNvPr id="7" name="Google Shape;90;p16">
            <a:extLst>
              <a:ext uri="{FF2B5EF4-FFF2-40B4-BE49-F238E27FC236}">
                <a16:creationId xmlns:a16="http://schemas.microsoft.com/office/drawing/2014/main" id="{32194583-F7A3-9C0B-DA13-958D644CF8D7}"/>
              </a:ext>
            </a:extLst>
          </p:cNvPr>
          <p:cNvSpPr txBox="1">
            <a:spLocks/>
          </p:cNvSpPr>
          <p:nvPr/>
        </p:nvSpPr>
        <p:spPr>
          <a:xfrm>
            <a:off x="625907" y="1774751"/>
            <a:ext cx="8956811"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A better way to think of it is “</a:t>
            </a:r>
            <a:r>
              <a:rPr lang="en-US" sz="2800" b="1" dirty="0">
                <a:solidFill>
                  <a:srgbClr val="70060E"/>
                </a:solidFill>
              </a:rPr>
              <a:t>Rent</a:t>
            </a:r>
            <a:r>
              <a:rPr lang="en-US" sz="2800" b="1" dirty="0">
                <a:solidFill>
                  <a:schemeClr val="accent3">
                    <a:lumMod val="10000"/>
                  </a:schemeClr>
                </a:solidFill>
              </a:rPr>
              <a:t>” vs. “</a:t>
            </a:r>
            <a:r>
              <a:rPr lang="en-US" sz="2800" b="1" dirty="0">
                <a:solidFill>
                  <a:srgbClr val="70060E"/>
                </a:solidFill>
              </a:rPr>
              <a:t>Own</a:t>
            </a:r>
            <a:r>
              <a:rPr lang="en-US" sz="2800" b="1" dirty="0">
                <a:solidFill>
                  <a:schemeClr val="accent3">
                    <a:lumMod val="10000"/>
                  </a:schemeClr>
                </a:solidFill>
              </a:rPr>
              <a:t>”…</a:t>
            </a:r>
          </a:p>
        </p:txBody>
      </p:sp>
      <p:sp>
        <p:nvSpPr>
          <p:cNvPr id="10" name="Google Shape;90;p16">
            <a:extLst>
              <a:ext uri="{FF2B5EF4-FFF2-40B4-BE49-F238E27FC236}">
                <a16:creationId xmlns:a16="http://schemas.microsoft.com/office/drawing/2014/main" id="{1B75C353-F919-3938-6E66-5EC7EF5E5220}"/>
              </a:ext>
            </a:extLst>
          </p:cNvPr>
          <p:cNvSpPr txBox="1">
            <a:spLocks/>
          </p:cNvSpPr>
          <p:nvPr/>
        </p:nvSpPr>
        <p:spPr>
          <a:xfrm>
            <a:off x="4838156" y="2343427"/>
            <a:ext cx="3849756"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chemeClr val="accent3">
                    <a:lumMod val="10000"/>
                  </a:schemeClr>
                </a:solidFill>
              </a:rPr>
              <a:t>Own (“</a:t>
            </a:r>
            <a:r>
              <a:rPr lang="en-US" sz="2800" b="1" dirty="0">
                <a:solidFill>
                  <a:srgbClr val="70060E"/>
                </a:solidFill>
              </a:rPr>
              <a:t>Build</a:t>
            </a:r>
            <a:r>
              <a:rPr lang="en-US" sz="2800" b="1" dirty="0">
                <a:solidFill>
                  <a:schemeClr val="accent3">
                    <a:lumMod val="10000"/>
                  </a:schemeClr>
                </a:solidFill>
              </a:rPr>
              <a:t>”) when….</a:t>
            </a:r>
          </a:p>
        </p:txBody>
      </p:sp>
      <p:grpSp>
        <p:nvGrpSpPr>
          <p:cNvPr id="31" name="Group 30">
            <a:extLst>
              <a:ext uri="{FF2B5EF4-FFF2-40B4-BE49-F238E27FC236}">
                <a16:creationId xmlns:a16="http://schemas.microsoft.com/office/drawing/2014/main" id="{0779A3F6-80A0-A709-F425-59663C82CD4E}"/>
              </a:ext>
            </a:extLst>
          </p:cNvPr>
          <p:cNvGrpSpPr/>
          <p:nvPr/>
        </p:nvGrpSpPr>
        <p:grpSpPr>
          <a:xfrm>
            <a:off x="93595" y="2357014"/>
            <a:ext cx="8589205" cy="2583581"/>
            <a:chOff x="93595" y="2357014"/>
            <a:chExt cx="8589205" cy="2583581"/>
          </a:xfrm>
        </p:grpSpPr>
        <p:sp>
          <p:nvSpPr>
            <p:cNvPr id="8" name="Google Shape;90;p16">
              <a:extLst>
                <a:ext uri="{FF2B5EF4-FFF2-40B4-BE49-F238E27FC236}">
                  <a16:creationId xmlns:a16="http://schemas.microsoft.com/office/drawing/2014/main" id="{098171E1-7A10-0971-6187-DE414DB298E7}"/>
                </a:ext>
              </a:extLst>
            </p:cNvPr>
            <p:cNvSpPr txBox="1">
              <a:spLocks/>
            </p:cNvSpPr>
            <p:nvPr/>
          </p:nvSpPr>
          <p:spPr>
            <a:xfrm>
              <a:off x="93595" y="2357014"/>
              <a:ext cx="3849756" cy="62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buNone/>
              </a:pPr>
              <a:r>
                <a:rPr lang="en-US" sz="2800" b="1" dirty="0">
                  <a:solidFill>
                    <a:srgbClr val="70060E"/>
                  </a:solidFill>
                </a:rPr>
                <a:t>Rent</a:t>
              </a:r>
              <a:r>
                <a:rPr lang="en-US" sz="2800" b="1" dirty="0">
                  <a:solidFill>
                    <a:schemeClr val="accent3">
                      <a:lumMod val="10000"/>
                    </a:schemeClr>
                  </a:solidFill>
                </a:rPr>
                <a:t> (“Buy”) when….</a:t>
              </a:r>
            </a:p>
          </p:txBody>
        </p:sp>
        <p:cxnSp>
          <p:nvCxnSpPr>
            <p:cNvPr id="20" name="Straight Connector 19">
              <a:extLst>
                <a:ext uri="{FF2B5EF4-FFF2-40B4-BE49-F238E27FC236}">
                  <a16:creationId xmlns:a16="http://schemas.microsoft.com/office/drawing/2014/main" id="{0DC8BDEC-9731-047B-69BF-DA3B5565C250}"/>
                </a:ext>
              </a:extLst>
            </p:cNvPr>
            <p:cNvCxnSpPr/>
            <p:nvPr/>
          </p:nvCxnSpPr>
          <p:spPr>
            <a:xfrm>
              <a:off x="311725" y="2962454"/>
              <a:ext cx="8371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D0CF6AB-0456-1961-7BB5-A7BFA79C4DA2}"/>
                </a:ext>
              </a:extLst>
            </p:cNvPr>
            <p:cNvCxnSpPr/>
            <p:nvPr/>
          </p:nvCxnSpPr>
          <p:spPr>
            <a:xfrm>
              <a:off x="4391025" y="2460905"/>
              <a:ext cx="0" cy="247969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5AD75BA4-C73F-7998-D6CD-6702BA4B5C9E}"/>
              </a:ext>
            </a:extLst>
          </p:cNvPr>
          <p:cNvSpPr txBox="1"/>
          <p:nvPr/>
        </p:nvSpPr>
        <p:spPr>
          <a:xfrm>
            <a:off x="49840" y="2964687"/>
            <a:ext cx="4320142" cy="1631216"/>
          </a:xfrm>
          <a:prstGeom prst="rect">
            <a:avLst/>
          </a:prstGeom>
          <a:noFill/>
        </p:spPr>
        <p:txBody>
          <a:bodyPr wrap="square">
            <a:spAutoFit/>
          </a:bodyPr>
          <a:lstStyle/>
          <a:p>
            <a:pPr marL="342900" indent="-342900">
              <a:buFont typeface="Arial" panose="020B0604020202020204" pitchFamily="34" charset="0"/>
              <a:buChar char="•"/>
            </a:pPr>
            <a:r>
              <a:rPr lang="en-US" sz="2000" dirty="0"/>
              <a:t>The tech is a liability</a:t>
            </a:r>
          </a:p>
          <a:p>
            <a:pPr marL="342900" indent="-342900">
              <a:buFont typeface="Arial" panose="020B0604020202020204" pitchFamily="34" charset="0"/>
              <a:buChar char="•"/>
            </a:pPr>
            <a:r>
              <a:rPr lang="en-US" sz="2000" dirty="0"/>
              <a:t>You want turn-key process</a:t>
            </a:r>
          </a:p>
          <a:p>
            <a:pPr marL="342900" indent="-342900">
              <a:buFont typeface="Arial" panose="020B0604020202020204" pitchFamily="34" charset="0"/>
              <a:buChar char="•"/>
            </a:pPr>
            <a:r>
              <a:rPr lang="en-US" sz="2000" dirty="0"/>
              <a:t>You can color inside the lines</a:t>
            </a:r>
          </a:p>
          <a:p>
            <a:pPr marL="342900" indent="-342900">
              <a:buFont typeface="Arial" panose="020B0604020202020204" pitchFamily="34" charset="0"/>
              <a:buChar char="•"/>
            </a:pPr>
            <a:r>
              <a:rPr lang="en-US" sz="2000" dirty="0"/>
              <a:t>This is not what makes you special</a:t>
            </a:r>
          </a:p>
        </p:txBody>
      </p:sp>
      <p:sp>
        <p:nvSpPr>
          <p:cNvPr id="26" name="TextBox 25">
            <a:extLst>
              <a:ext uri="{FF2B5EF4-FFF2-40B4-BE49-F238E27FC236}">
                <a16:creationId xmlns:a16="http://schemas.microsoft.com/office/drawing/2014/main" id="{C5ED6F42-9689-0804-EEB4-EC51ACBE912C}"/>
              </a:ext>
            </a:extLst>
          </p:cNvPr>
          <p:cNvSpPr txBox="1"/>
          <p:nvPr/>
        </p:nvSpPr>
        <p:spPr>
          <a:xfrm>
            <a:off x="4497262" y="2963123"/>
            <a:ext cx="4702288" cy="2246769"/>
          </a:xfrm>
          <a:prstGeom prst="rect">
            <a:avLst/>
          </a:prstGeom>
          <a:noFill/>
        </p:spPr>
        <p:txBody>
          <a:bodyPr wrap="square">
            <a:spAutoFit/>
          </a:bodyPr>
          <a:lstStyle/>
          <a:p>
            <a:pPr marL="342900" indent="-342900">
              <a:buFont typeface="Arial" panose="020B0604020202020204" pitchFamily="34" charset="0"/>
              <a:buChar char="•"/>
            </a:pPr>
            <a:r>
              <a:rPr lang="en-US" sz="2000" dirty="0"/>
              <a:t>The tech is an asset</a:t>
            </a:r>
          </a:p>
          <a:p>
            <a:pPr marL="342900" indent="-342900">
              <a:buFont typeface="Arial" panose="020B0604020202020204" pitchFamily="34" charset="0"/>
              <a:buChar char="•"/>
            </a:pPr>
            <a:r>
              <a:rPr lang="en-US" sz="2000" dirty="0"/>
              <a:t>You want YOUR process</a:t>
            </a:r>
          </a:p>
          <a:p>
            <a:pPr marL="342900" indent="-342900">
              <a:buFont typeface="Arial" panose="020B0604020202020204" pitchFamily="34" charset="0"/>
              <a:buChar char="•"/>
            </a:pPr>
            <a:r>
              <a:rPr lang="en-US" sz="2000" dirty="0"/>
              <a:t>You can’t work on the software’s roadmap</a:t>
            </a:r>
          </a:p>
          <a:p>
            <a:pPr marL="342900" indent="-342900">
              <a:buFont typeface="Arial" panose="020B0604020202020204" pitchFamily="34" charset="0"/>
              <a:buChar char="•"/>
            </a:pPr>
            <a:r>
              <a:rPr lang="en-US" sz="2000" dirty="0"/>
              <a:t>Your customer views your tech as</a:t>
            </a:r>
          </a:p>
          <a:p>
            <a:r>
              <a:rPr lang="en-US" sz="2000" dirty="0"/>
              <a:t>			</a:t>
            </a:r>
            <a:r>
              <a:rPr lang="en-US" sz="2000" b="1" dirty="0">
                <a:solidFill>
                  <a:srgbClr val="70060E"/>
                </a:solidFill>
              </a:rPr>
              <a:t>Value Add</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122063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Questions/Comments/Concerns</a:t>
            </a:r>
            <a:endParaRPr dirty="0"/>
          </a:p>
        </p:txBody>
      </p:sp>
      <p:grpSp>
        <p:nvGrpSpPr>
          <p:cNvPr id="2" name="Group 1">
            <a:extLst>
              <a:ext uri="{FF2B5EF4-FFF2-40B4-BE49-F238E27FC236}">
                <a16:creationId xmlns:a16="http://schemas.microsoft.com/office/drawing/2014/main" id="{5533B3F9-83E6-1D5D-F7FF-45C07C9A3E5A}"/>
              </a:ext>
            </a:extLst>
          </p:cNvPr>
          <p:cNvGrpSpPr/>
          <p:nvPr/>
        </p:nvGrpSpPr>
        <p:grpSpPr>
          <a:xfrm>
            <a:off x="0" y="4595905"/>
            <a:ext cx="3232298" cy="547595"/>
            <a:chOff x="0" y="4581729"/>
            <a:chExt cx="3232298" cy="547595"/>
          </a:xfrm>
        </p:grpSpPr>
        <p:pic>
          <p:nvPicPr>
            <p:cNvPr id="3" name="Google Shape;64;p13">
              <a:extLst>
                <a:ext uri="{FF2B5EF4-FFF2-40B4-BE49-F238E27FC236}">
                  <a16:creationId xmlns:a16="http://schemas.microsoft.com/office/drawing/2014/main" id="{BE5EB215-C04C-13A1-CF92-888A99D93056}"/>
                </a:ext>
              </a:extLst>
            </p:cNvPr>
            <p:cNvPicPr preferRelativeResize="0">
              <a:picLocks noChangeAspect="1"/>
            </p:cNvPicPr>
            <p:nvPr/>
          </p:nvPicPr>
          <p:blipFill>
            <a:blip r:embed="rId3">
              <a:alphaModFix/>
            </a:blip>
            <a:stretch>
              <a:fillRect/>
            </a:stretch>
          </p:blipFill>
          <p:spPr>
            <a:xfrm rot="-4">
              <a:off x="70884" y="4581729"/>
              <a:ext cx="1110047" cy="344689"/>
            </a:xfrm>
            <a:prstGeom prst="rect">
              <a:avLst/>
            </a:prstGeom>
            <a:noFill/>
            <a:ln>
              <a:noFill/>
            </a:ln>
          </p:spPr>
        </p:pic>
        <p:cxnSp>
          <p:nvCxnSpPr>
            <p:cNvPr id="4" name="Straight Connector 3">
              <a:extLst>
                <a:ext uri="{FF2B5EF4-FFF2-40B4-BE49-F238E27FC236}">
                  <a16:creationId xmlns:a16="http://schemas.microsoft.com/office/drawing/2014/main" id="{8BC8A7B8-269B-3822-2A2A-A9ED74AEAFD2}"/>
                </a:ext>
              </a:extLst>
            </p:cNvPr>
            <p:cNvCxnSpPr/>
            <p:nvPr/>
          </p:nvCxnSpPr>
          <p:spPr>
            <a:xfrm>
              <a:off x="70884" y="4926420"/>
              <a:ext cx="2083981"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80254D-CAA8-6683-A4EF-5D3A9E7DEB22}"/>
                </a:ext>
              </a:extLst>
            </p:cNvPr>
            <p:cNvSpPr txBox="1"/>
            <p:nvPr/>
          </p:nvSpPr>
          <p:spPr>
            <a:xfrm>
              <a:off x="0" y="4898492"/>
              <a:ext cx="3232298" cy="230832"/>
            </a:xfrm>
            <a:prstGeom prst="rect">
              <a:avLst/>
            </a:prstGeom>
            <a:noFill/>
          </p:spPr>
          <p:txBody>
            <a:bodyPr wrap="square" rtlCol="0">
              <a:spAutoFit/>
            </a:bodyPr>
            <a:lstStyle/>
            <a:p>
              <a:r>
                <a:rPr lang="en-US" sz="900" dirty="0">
                  <a:solidFill>
                    <a:schemeClr val="bg2">
                      <a:lumMod val="75000"/>
                    </a:schemeClr>
                  </a:solidFill>
                </a:rPr>
                <a:t>© VoTech Recruiting, LLC, All Rights Reserved </a:t>
              </a:r>
            </a:p>
          </p:txBody>
        </p:sp>
      </p:grpSp>
      <p:pic>
        <p:nvPicPr>
          <p:cNvPr id="7" name="Picture 6">
            <a:extLst>
              <a:ext uri="{FF2B5EF4-FFF2-40B4-BE49-F238E27FC236}">
                <a16:creationId xmlns:a16="http://schemas.microsoft.com/office/drawing/2014/main" id="{440DAC24-E0F0-6D3B-E34D-D2F90EE51F1C}"/>
              </a:ext>
            </a:extLst>
          </p:cNvPr>
          <p:cNvPicPr>
            <a:picLocks noChangeAspect="1"/>
          </p:cNvPicPr>
          <p:nvPr/>
        </p:nvPicPr>
        <p:blipFill>
          <a:blip r:embed="rId4"/>
          <a:stretch>
            <a:fillRect/>
          </a:stretch>
        </p:blipFill>
        <p:spPr>
          <a:xfrm>
            <a:off x="273795" y="1441388"/>
            <a:ext cx="2650387" cy="2650387"/>
          </a:xfrm>
          <a:prstGeom prst="rect">
            <a:avLst/>
          </a:prstGeom>
        </p:spPr>
      </p:pic>
      <p:pic>
        <p:nvPicPr>
          <p:cNvPr id="9" name="Picture 8">
            <a:extLst>
              <a:ext uri="{FF2B5EF4-FFF2-40B4-BE49-F238E27FC236}">
                <a16:creationId xmlns:a16="http://schemas.microsoft.com/office/drawing/2014/main" id="{EBDBAE3E-DC3A-7872-97DA-6E46C778E092}"/>
              </a:ext>
            </a:extLst>
          </p:cNvPr>
          <p:cNvPicPr>
            <a:picLocks noChangeAspect="1"/>
          </p:cNvPicPr>
          <p:nvPr/>
        </p:nvPicPr>
        <p:blipFill>
          <a:blip r:embed="rId5"/>
          <a:stretch>
            <a:fillRect/>
          </a:stretch>
        </p:blipFill>
        <p:spPr>
          <a:xfrm>
            <a:off x="3153867" y="1441388"/>
            <a:ext cx="2650387" cy="2650387"/>
          </a:xfrm>
          <a:prstGeom prst="rect">
            <a:avLst/>
          </a:prstGeom>
        </p:spPr>
      </p:pic>
      <p:pic>
        <p:nvPicPr>
          <p:cNvPr id="11" name="Picture 10">
            <a:extLst>
              <a:ext uri="{FF2B5EF4-FFF2-40B4-BE49-F238E27FC236}">
                <a16:creationId xmlns:a16="http://schemas.microsoft.com/office/drawing/2014/main" id="{0EFC3CC1-B326-8FA1-BB52-422375692057}"/>
              </a:ext>
            </a:extLst>
          </p:cNvPr>
          <p:cNvPicPr>
            <a:picLocks noChangeAspect="1"/>
          </p:cNvPicPr>
          <p:nvPr/>
        </p:nvPicPr>
        <p:blipFill>
          <a:blip r:embed="rId6"/>
          <a:stretch>
            <a:fillRect/>
          </a:stretch>
        </p:blipFill>
        <p:spPr>
          <a:xfrm>
            <a:off x="6084793" y="1441388"/>
            <a:ext cx="2650387" cy="2650387"/>
          </a:xfrm>
          <a:prstGeom prst="rect">
            <a:avLst/>
          </a:prstGeom>
        </p:spPr>
      </p:pic>
      <p:sp>
        <p:nvSpPr>
          <p:cNvPr id="12" name="TextBox 11">
            <a:extLst>
              <a:ext uri="{FF2B5EF4-FFF2-40B4-BE49-F238E27FC236}">
                <a16:creationId xmlns:a16="http://schemas.microsoft.com/office/drawing/2014/main" id="{959542BB-FBCB-EE1D-EE3B-82FC6DF72595}"/>
              </a:ext>
            </a:extLst>
          </p:cNvPr>
          <p:cNvSpPr txBox="1"/>
          <p:nvPr/>
        </p:nvSpPr>
        <p:spPr>
          <a:xfrm>
            <a:off x="162715" y="3985403"/>
            <a:ext cx="2906868" cy="400110"/>
          </a:xfrm>
          <a:prstGeom prst="rect">
            <a:avLst/>
          </a:prstGeom>
          <a:noFill/>
        </p:spPr>
        <p:txBody>
          <a:bodyPr wrap="square">
            <a:spAutoFit/>
          </a:bodyPr>
          <a:lstStyle/>
          <a:p>
            <a:r>
              <a:rPr lang="en-US" sz="2000" dirty="0">
                <a:solidFill>
                  <a:schemeClr val="accent3">
                    <a:lumMod val="10000"/>
                  </a:schemeClr>
                </a:solidFill>
                <a:hlinkClick r:id="rId7">
                  <a:extLst>
                    <a:ext uri="{A12FA001-AC4F-418D-AE19-62706E023703}">
                      <ahyp:hlinkClr xmlns:ahyp="http://schemas.microsoft.com/office/drawing/2018/hyperlinkcolor" val="tx"/>
                    </a:ext>
                  </a:extLst>
                </a:hlinkClick>
              </a:rPr>
              <a:t>Today’s Example Code</a:t>
            </a:r>
            <a:endParaRPr lang="en-US" sz="2000" dirty="0">
              <a:solidFill>
                <a:schemeClr val="accent3">
                  <a:lumMod val="10000"/>
                </a:schemeClr>
              </a:solidFill>
            </a:endParaRPr>
          </a:p>
        </p:txBody>
      </p:sp>
      <p:sp>
        <p:nvSpPr>
          <p:cNvPr id="13" name="TextBox 12">
            <a:extLst>
              <a:ext uri="{FF2B5EF4-FFF2-40B4-BE49-F238E27FC236}">
                <a16:creationId xmlns:a16="http://schemas.microsoft.com/office/drawing/2014/main" id="{AAC47ED1-0D27-FA9D-866D-55B6E03E1658}"/>
              </a:ext>
            </a:extLst>
          </p:cNvPr>
          <p:cNvSpPr txBox="1"/>
          <p:nvPr/>
        </p:nvSpPr>
        <p:spPr>
          <a:xfrm>
            <a:off x="3430108" y="3984285"/>
            <a:ext cx="2294160" cy="400110"/>
          </a:xfrm>
          <a:prstGeom prst="rect">
            <a:avLst/>
          </a:prstGeom>
          <a:noFill/>
        </p:spPr>
        <p:txBody>
          <a:bodyPr wrap="square">
            <a:spAutoFit/>
          </a:bodyPr>
          <a:lstStyle/>
          <a:p>
            <a:r>
              <a:rPr lang="en-US" sz="2000" dirty="0">
                <a:solidFill>
                  <a:schemeClr val="accent3">
                    <a:lumMod val="10000"/>
                  </a:schemeClr>
                </a:solidFill>
                <a:hlinkClick r:id="rId8">
                  <a:extLst>
                    <a:ext uri="{A12FA001-AC4F-418D-AE19-62706E023703}">
                      <ahyp:hlinkClr xmlns:ahyp="http://schemas.microsoft.com/office/drawing/2018/hyperlinkcolor" val="tx"/>
                    </a:ext>
                  </a:extLst>
                </a:hlinkClick>
              </a:rPr>
              <a:t>Connect with Me</a:t>
            </a:r>
            <a:endParaRPr lang="en-US" sz="2000" dirty="0">
              <a:solidFill>
                <a:schemeClr val="accent3">
                  <a:lumMod val="10000"/>
                </a:schemeClr>
              </a:solidFill>
            </a:endParaRPr>
          </a:p>
        </p:txBody>
      </p:sp>
      <p:sp>
        <p:nvSpPr>
          <p:cNvPr id="14" name="TextBox 13">
            <a:extLst>
              <a:ext uri="{FF2B5EF4-FFF2-40B4-BE49-F238E27FC236}">
                <a16:creationId xmlns:a16="http://schemas.microsoft.com/office/drawing/2014/main" id="{D99C15B7-B319-F87A-FEEC-9D10CE43A9F7}"/>
              </a:ext>
            </a:extLst>
          </p:cNvPr>
          <p:cNvSpPr txBox="1"/>
          <p:nvPr/>
        </p:nvSpPr>
        <p:spPr>
          <a:xfrm>
            <a:off x="6413957" y="3984285"/>
            <a:ext cx="2151143" cy="400110"/>
          </a:xfrm>
          <a:prstGeom prst="rect">
            <a:avLst/>
          </a:prstGeom>
          <a:noFill/>
        </p:spPr>
        <p:txBody>
          <a:bodyPr wrap="square">
            <a:spAutoFit/>
          </a:bodyPr>
          <a:lstStyle/>
          <a:p>
            <a:r>
              <a:rPr lang="en-US" sz="2000" dirty="0">
                <a:solidFill>
                  <a:schemeClr val="accent3">
                    <a:lumMod val="10000"/>
                  </a:schemeClr>
                </a:solidFill>
                <a:hlinkClick r:id="rId9">
                  <a:extLst>
                    <a:ext uri="{A12FA001-AC4F-418D-AE19-62706E023703}">
                      <ahyp:hlinkClr xmlns:ahyp="http://schemas.microsoft.com/office/drawing/2018/hyperlinkcolor" val="tx"/>
                    </a:ext>
                  </a:extLst>
                </a:hlinkClick>
              </a:rPr>
              <a:t>Book a Free Call</a:t>
            </a:r>
            <a:endParaRPr lang="en-US" sz="2000" dirty="0">
              <a:solidFill>
                <a:schemeClr val="accent3">
                  <a:lumMod val="1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2047</TotalTime>
  <Words>1935</Words>
  <Application>Microsoft Office PowerPoint</Application>
  <PresentationFormat>On-screen Show (16:9)</PresentationFormat>
  <Paragraphs>444</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Merriweather</vt:lpstr>
      <vt:lpstr>Roboto</vt:lpstr>
      <vt:lpstr>Arial</vt:lpstr>
      <vt:lpstr>Paradigm</vt:lpstr>
      <vt:lpstr>Buy vs Build   In the Age of Vibe Coding</vt:lpstr>
      <vt:lpstr>Introductions</vt:lpstr>
      <vt:lpstr>Who is VoTech Recruiting?</vt:lpstr>
      <vt:lpstr>This talk, in one sentence.</vt:lpstr>
      <vt:lpstr>How can that be?</vt:lpstr>
      <vt:lpstr>How can that be?</vt:lpstr>
      <vt:lpstr>How can that be?</vt:lpstr>
      <vt:lpstr>How can that be?</vt:lpstr>
      <vt:lpstr>Cost of Tech-Phobia</vt:lpstr>
      <vt:lpstr>Cost of Tech-Phobia</vt:lpstr>
      <vt:lpstr>Cost of Tech-Phobia</vt:lpstr>
      <vt:lpstr>Cost of Tech-Phobia</vt:lpstr>
      <vt:lpstr>Today’s Discussion</vt:lpstr>
      <vt:lpstr>Those questions are all old, what’s new here?</vt:lpstr>
      <vt:lpstr>AI has changed the game!</vt:lpstr>
      <vt:lpstr>While we’re waiting…</vt:lpstr>
      <vt:lpstr>Buy the Platform</vt:lpstr>
      <vt:lpstr>Buy the Platform</vt:lpstr>
      <vt:lpstr>Buy the Platform</vt:lpstr>
      <vt:lpstr>Buy the Platform</vt:lpstr>
      <vt:lpstr>Buy the Platform</vt:lpstr>
      <vt:lpstr>Build the Edge</vt:lpstr>
      <vt:lpstr>Build the Edge</vt:lpstr>
      <vt:lpstr>Build the Edge</vt:lpstr>
      <vt:lpstr>Build the Edge</vt:lpstr>
      <vt:lpstr>Stitch Together Solutions</vt:lpstr>
      <vt:lpstr>Stitch Together Solutions</vt:lpstr>
      <vt:lpstr>What is “Vibe Coding”</vt:lpstr>
      <vt:lpstr>What is “Vibe Coding”</vt:lpstr>
      <vt:lpstr>What is “Vibe Coding”</vt:lpstr>
      <vt:lpstr>What is “Vibe Coding”</vt:lpstr>
      <vt:lpstr>What is “Vibe Coding”</vt:lpstr>
      <vt:lpstr>What is “Vibe Coding”</vt:lpstr>
      <vt:lpstr>How AI Moved the Buy/Build Line</vt:lpstr>
      <vt:lpstr>How AI Moved the Buy/Build Line</vt:lpstr>
      <vt:lpstr>How AI Moved the Buy/Build Line</vt:lpstr>
      <vt:lpstr>Examples</vt:lpstr>
      <vt:lpstr>Examples</vt:lpstr>
      <vt:lpstr>Conclusions</vt:lpstr>
      <vt:lpstr>Questions/Comments/Concerns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 H. Blackburn</dc:creator>
  <cp:lastModifiedBy>John Blackburn</cp:lastModifiedBy>
  <cp:revision>16</cp:revision>
  <dcterms:modified xsi:type="dcterms:W3CDTF">2026-06-11T17:43:43Z</dcterms:modified>
</cp:coreProperties>
</file>